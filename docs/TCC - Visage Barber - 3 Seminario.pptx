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20d8073-2fb2-b41f-6c58-d2ede64641a6}">
          <p14:sldIdLst>
            <p14:sldId id="256"/>
            <p14:sldId id="257"/>
          </p14:sldIdLst>
        </p14:section>
        <p14:section name="Projeto" id="{e8b81428-28a4-b4d0-ce0a-a36f86e82f56}">
          <p14:sldIdLst>
            <p14:sldId id="258"/>
            <p14:sldId id="259"/>
            <p14:sldId id="260"/>
            <p14:sldId id="261"/>
          </p14:sldIdLst>
        </p14:section>
        <p14:section name="Desenvolvimento" id="{33099fcd-2cd7-c1a5-581b-9508dc779db7}">
          <p14:sldIdLst>
            <p14:sldId id="262"/>
            <p14:sldId id="263"/>
            <p14:sldId id="264"/>
          </p14:sldIdLst>
        </p14:section>
        <p14:section name="Encerramento" id="{bb47c28d-a686-cdcd-9aae-669fb08ea2cc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3º Seminário do TCC. Desde o 1º seminário: aplicativo mobile (React Native + Expo), visagismo por foto com IA, chat cliente-barbeiro e avaliações.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Novidade: além da versão web, o sistema agora tem aplicativo mobile, e o visagismo passou a analisar a foto do cliente com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Mudanças desde o 1º seminário: aplicativo mobile em React Native + Expo, API em Express e análise facial pelo Google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1º seminário eram 16 requisitos concluídos; agora são 22 de 27. Em desenvolvimento: RF19 (falta a imagem no catálogo), RF21 (filtros por data/barbeiro), RF23 (ativar/desativar cortes), RF26 (perfil completo do cliente para o admin) e RF27 (push depende de build de desenvolvimento, não funciona no Expo Go).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AppData\Local\Temp\claude\c--Users-lucas-OneDrive-Desktop-barber\73c8ebb9-1ab6-4d32-bf9e-27e027f567b8\scratchpad\img\swirl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6667" y="0"/>
            <a:ext cx="1185333" cy="1905000"/>
          </a:xfrm>
          <a:prstGeom prst="rect">
            <a:avLst/>
          </a:prstGeom>
        </p:spPr>
      </p:pic>
      <p:pic>
        <p:nvPicPr>
          <p:cNvPr id="3" name="Image 1" descr="C:\Users\lucas\AppData\Local\Temp\claude\c--Users-lucas-OneDrive-Desktop-barber\73c8ebb9-1ab6-4d32-bf9e-27e027f567b8\scratchpad\img\swirlB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4667"/>
            <a:ext cx="1143000" cy="1693333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50733" y="1268307"/>
            <a:ext cx="72644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34533" y="5604933"/>
            <a:ext cx="10380133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3386667" y="1879600"/>
            <a:ext cx="5588000" cy="254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80000"/>
              </a:lnSpc>
              <a:buNone/>
              <a:defRPr lang="en-US" sz="9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lnSpc>
                <a:spcPct val="80000"/>
              </a:lnSpc>
              <a:buNone/>
            </a:pPr>
            <a:endParaRPr lang="en-US" sz="92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3217333" y="4470400"/>
            <a:ext cx="5926667" cy="711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900" b="1" i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900" dirty="0"/>
          </a:p>
        </p:txBody>
      </p:sp>
      <p:sp>
        <p:nvSpPr>
          <p:cNvPr id="8" name="Text 2"/>
          <p:cNvSpPr/>
          <p:nvPr/>
        </p:nvSpPr>
        <p:spPr>
          <a:xfrm>
            <a:off x="11631168" y="6366933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/11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CUR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735667"/>
            <a:ext cx="4097867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11631168" y="6366933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/11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LONG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63333" y="1735667"/>
            <a:ext cx="6392333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1631168" y="6366933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/11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AppData\Local\Temp\claude\c--Users-lucas-OneDrive-Desktop-barber\73c8ebb9-1ab6-4d32-bf9e-27e027f567b8\scratchpad\img\hatch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13000" cy="1185333"/>
          </a:xfrm>
          <a:prstGeom prst="rect">
            <a:avLst/>
          </a:prstGeom>
        </p:spPr>
      </p:pic>
      <p:pic>
        <p:nvPicPr>
          <p:cNvPr id="3" name="Image 1" descr="C:\Users\lucas\AppData\Local\Temp\claude\c--Users-lucas-OneDrive-Desktop-barber\73c8ebb9-1ab6-4d32-bf9e-27e027f567b8\scratchpad\img\stars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333" y="5969000"/>
            <a:ext cx="1862667" cy="50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114800" y="2116667"/>
            <a:ext cx="4097867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185333"/>
            <a:ext cx="11091672" cy="88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5000" dirty="0"/>
          </a:p>
        </p:txBody>
      </p:sp>
      <p:sp>
        <p:nvSpPr>
          <p:cNvPr id="6" name="Text 1"/>
          <p:cNvSpPr/>
          <p:nvPr/>
        </p:nvSpPr>
        <p:spPr>
          <a:xfrm>
            <a:off x="11631168" y="6366933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/11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as\AppData\Local\Temp\claude\c--Users-lucas-OneDrive-Desktop-barber\73c8ebb9-1ab6-4d32-bf9e-27e027f567b8\scratchpad\img\swirl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6667" y="0"/>
            <a:ext cx="1185333" cy="1905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50733" y="1268307"/>
            <a:ext cx="72644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397000"/>
            <a:ext cx="11091672" cy="1058333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8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5800" dirty="0"/>
          </a:p>
        </p:txBody>
      </p:sp>
      <p:sp>
        <p:nvSpPr>
          <p:cNvPr id="5" name="Text 1"/>
          <p:cNvSpPr/>
          <p:nvPr/>
        </p:nvSpPr>
        <p:spPr>
          <a:xfrm>
            <a:off x="11631168" y="6366933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/11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slideLayout" Target="../slideLayouts/slideLayout4.xml"/><Relationship Id="rId3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Ícone seminário" descr="C:\Users\lucas\AppData\Local\Temp\claude\c--Users-lucas-OneDrive-Desktop-barber\73c8ebb9-1ab6-4d32-bf9e-27e027f567b8\scratchpad\img\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733" y="804333"/>
            <a:ext cx="541867" cy="592667"/>
          </a:xfrm>
          <a:prstGeom prst="rect">
            <a:avLst/>
          </a:prstGeom>
        </p:spPr>
      </p:pic>
      <p:sp>
        <p:nvSpPr>
          <p:cNvPr id="3" name="Seminário"/>
          <p:cNvSpPr txBox="1"/>
          <p:nvPr/>
        </p:nvSpPr>
        <p:spPr>
          <a:xfrm>
            <a:off x="1439333" y="880533"/>
            <a:ext cx="2201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3º Seminário</a:t>
            </a:r>
            <a:endParaRPr lang="en-US" sz="2300" dirty="0"/>
          </a:p>
        </p:txBody>
      </p:sp>
      <p:pic>
        <p:nvPicPr>
          <p:cNvPr id="4" name="Logo Visage Barber" descr="C:\Users\lucas\AppData\Local\Temp\claude\c--Users-lucas-OneDrive-Desktop-barber\73c8ebb9-1ab6-4d32-bf9e-27e027f567b8\scratchpad\im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2311400"/>
            <a:ext cx="2345267" cy="2345267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4" type="title" hasCustomPrompt="1"/>
          </p:nvPr>
        </p:nvSpPr>
        <p:spPr>
          <a:xfrm>
            <a:off x="3386667" y="1879600"/>
            <a:ext cx="558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9200" b="1" dirty="0">
                <a:solidFill>
                  <a:schemeClr val="tx1"/>
                </a:solidFill>
              </a:rPr>
              <a:t>VISAGE</a:t>
            </a:r>
            <a:endParaRPr lang="en-US" sz="9200" dirty="0"/>
          </a:p>
          <a:p>
            <a:pPr algn="ctr" indent="0" marL="0">
              <a:lnSpc>
                <a:spcPct val="80000"/>
              </a:lnSpc>
              <a:buNone/>
            </a:pPr>
            <a:r>
              <a:rPr lang="en-US" sz="9200" b="1" dirty="0">
                <a:solidFill>
                  <a:schemeClr val="tx1"/>
                </a:solidFill>
              </a:rPr>
              <a:t>BARBER</a:t>
            </a:r>
            <a:endParaRPr lang="en-US" sz="92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3217333" y="4470400"/>
            <a:ext cx="592666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Sistema de Agendamento para Barbearias com Recomendação de Cortes Baseada em Visagismo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namento decoTL" descr="C:\Users\lucas\AppData\Local\Temp\claude\c--Users-lucas-OneDrive-Desktop-barber\73c8ebb9-1ab6-4d32-bf9e-27e027f567b8\scratchpad\img\deco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" cy="1820333"/>
          </a:xfrm>
          <a:prstGeom prst="rect">
            <a:avLst/>
          </a:prstGeom>
        </p:spPr>
      </p:pic>
      <p:pic>
        <p:nvPicPr>
          <p:cNvPr id="3" name="Ornamento curvesBR" descr="C:\Users\lucas\AppData\Local\Temp\claude\c--Users-lucas-OneDrive-Desktop-barber\73c8ebb9-1ab6-4d32-bf9e-27e027f567b8\scratchpad\img\curves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5249333"/>
            <a:ext cx="1820333" cy="1608667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EQUIPE</a:t>
            </a:r>
            <a:endParaRPr lang="en-US" sz="5000" dirty="0"/>
          </a:p>
        </p:txBody>
      </p:sp>
      <p:pic>
        <p:nvPicPr>
          <p:cNvPr id="5" name="Foto Alice Campos" descr="Foto de Alice Camp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514600"/>
            <a:ext cx="1769533" cy="1778000"/>
          </a:xfrm>
          <a:prstGeom prst="rect">
            <a:avLst/>
          </a:prstGeom>
        </p:spPr>
      </p:pic>
      <p:sp>
        <p:nvSpPr>
          <p:cNvPr id="6" name="Alice Campos"/>
          <p:cNvSpPr txBox="1"/>
          <p:nvPr/>
        </p:nvSpPr>
        <p:spPr>
          <a:xfrm>
            <a:off x="969433" y="4402667"/>
            <a:ext cx="2370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Alice Campos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(Doc e Front-end)</a:t>
            </a:r>
            <a:endParaRPr lang="en-US" sz="1400" dirty="0"/>
          </a:p>
        </p:txBody>
      </p:sp>
      <p:pic>
        <p:nvPicPr>
          <p:cNvPr id="7" name="Foto Gabriel Alves" descr="Foto de Gabriel Alv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133" y="2565400"/>
            <a:ext cx="1761067" cy="1761067"/>
          </a:xfrm>
          <a:prstGeom prst="rect">
            <a:avLst/>
          </a:prstGeom>
        </p:spPr>
      </p:pic>
      <p:sp>
        <p:nvSpPr>
          <p:cNvPr id="8" name="Gabriel Alves"/>
          <p:cNvSpPr txBox="1"/>
          <p:nvPr/>
        </p:nvSpPr>
        <p:spPr>
          <a:xfrm>
            <a:off x="3598333" y="4402667"/>
            <a:ext cx="2370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Gabriel Alves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(Dev full-stack)</a:t>
            </a:r>
            <a:endParaRPr lang="en-US" sz="1400" dirty="0"/>
          </a:p>
        </p:txBody>
      </p:sp>
      <p:pic>
        <p:nvPicPr>
          <p:cNvPr id="9" name="Foto Lucas Alves" descr="Foto de Lucas Alv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800" y="2565400"/>
            <a:ext cx="1761067" cy="1761067"/>
          </a:xfrm>
          <a:prstGeom prst="rect">
            <a:avLst/>
          </a:prstGeom>
        </p:spPr>
      </p:pic>
      <p:sp>
        <p:nvSpPr>
          <p:cNvPr id="10" name="Lucas Alves"/>
          <p:cNvSpPr txBox="1"/>
          <p:nvPr/>
        </p:nvSpPr>
        <p:spPr>
          <a:xfrm>
            <a:off x="6223000" y="4402667"/>
            <a:ext cx="2370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Lucas Alves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(Dev full-stack)</a:t>
            </a:r>
            <a:endParaRPr lang="en-US" sz="1400" dirty="0"/>
          </a:p>
        </p:txBody>
      </p:sp>
      <p:pic>
        <p:nvPicPr>
          <p:cNvPr id="11" name="Foto Mônica Mara" descr="Foto de Mônica Mar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467" y="2565400"/>
            <a:ext cx="1769533" cy="1761067"/>
          </a:xfrm>
          <a:prstGeom prst="rect">
            <a:avLst/>
          </a:prstGeom>
        </p:spPr>
      </p:pic>
      <p:sp>
        <p:nvSpPr>
          <p:cNvPr id="12" name="Mônica Mara"/>
          <p:cNvSpPr txBox="1"/>
          <p:nvPr/>
        </p:nvSpPr>
        <p:spPr>
          <a:xfrm>
            <a:off x="8851900" y="4402667"/>
            <a:ext cx="2370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Mônica Mara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(Orientadora)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namento starsTL" descr="C:\Users\lucas\AppData\Local\Temp\claude\c--Users-lucas-OneDrive-Desktop-barber\73c8ebb9-1ab6-4d32-bf9e-27e027f567b8\scratchpad\img\stars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0"/>
            <a:ext cx="1964267" cy="533400"/>
          </a:xfrm>
          <a:prstGeom prst="rect">
            <a:avLst/>
          </a:prstGeom>
        </p:spPr>
      </p:pic>
      <p:pic>
        <p:nvPicPr>
          <p:cNvPr id="3" name="Ornamento curvesTR" descr="C:\Users\lucas\AppData\Local\Temp\claude\c--Users-lucas-OneDrive-Desktop-barber\73c8ebb9-1ab6-4d32-bf9e-27e027f567b8\scratchpad\img\curvesT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333" y="0"/>
            <a:ext cx="2370667" cy="1524000"/>
          </a:xfrm>
          <a:prstGeom prst="rect">
            <a:avLst/>
          </a:prstGeom>
        </p:spPr>
      </p:pic>
      <p:pic>
        <p:nvPicPr>
          <p:cNvPr id="4" name="Ornamento curvesBL" descr="C:\Users\lucas\AppData\Local\Temp\claude\c--Users-lucas-OneDrive-Desktop-barber\73c8ebb9-1ab6-4d32-bf9e-27e027f567b8\scratchpad\img\curvesB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2333"/>
            <a:ext cx="2582333" cy="1735667"/>
          </a:xfrm>
          <a:prstGeom prst="rect">
            <a:avLst/>
          </a:prstGeom>
        </p:spPr>
      </p:pic>
      <p:pic>
        <p:nvPicPr>
          <p:cNvPr id="5" name="Ornamento starsBR" descr="C:\Users\lucas\AppData\Local\Temp\claude\c--Users-lucas-OneDrive-Desktop-barber\73c8ebb9-1ab6-4d32-bf9e-27e027f567b8\scratchpad\img\stars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9333" y="5969000"/>
            <a:ext cx="1862667" cy="5080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O QUE É?</a:t>
            </a:r>
            <a:endParaRPr lang="en-US" sz="5000" dirty="0"/>
          </a:p>
        </p:txBody>
      </p:sp>
      <p:sp>
        <p:nvSpPr>
          <p:cNvPr id="7" name="Descrição"/>
          <p:cNvSpPr txBox="1"/>
          <p:nvPr/>
        </p:nvSpPr>
        <p:spPr>
          <a:xfrm>
            <a:off x="1439333" y="1998133"/>
            <a:ext cx="9313333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Uma plataforma web e mobile que une dois recursos em um só lugar:</a:t>
            </a:r>
            <a:endParaRPr lang="en-US" sz="2100" dirty="0"/>
          </a:p>
        </p:txBody>
      </p:sp>
      <p:pic>
        <p:nvPicPr>
          <p:cNvPr id="8" name="Ícone agendamento" descr="C:\Users\lucas\AppData\Local\Temp\claude\c--Users-lucas-OneDrive-Desktop-barber\73c8ebb9-1ab6-4d32-bf9e-27e027f567b8\scratchpad\img\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726267"/>
            <a:ext cx="1710267" cy="1744133"/>
          </a:xfrm>
          <a:prstGeom prst="rect">
            <a:avLst/>
          </a:prstGeom>
        </p:spPr>
      </p:pic>
      <p:pic>
        <p:nvPicPr>
          <p:cNvPr id="9" name="Ícone recomendação" descr="C:\Users\lucas\AppData\Local\Temp\claude\c--Users-lucas-OneDrive-Desktop-barber\73c8ebb9-1ab6-4d32-bf9e-27e027f567b8\scratchpad\img\pesso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667" y="2658533"/>
            <a:ext cx="1854200" cy="1676400"/>
          </a:xfrm>
          <a:prstGeom prst="rect">
            <a:avLst/>
          </a:prstGeom>
        </p:spPr>
      </p:pic>
      <p:sp>
        <p:nvSpPr>
          <p:cNvPr id="10" name="Recurso 1"/>
          <p:cNvSpPr txBox="1"/>
          <p:nvPr/>
        </p:nvSpPr>
        <p:spPr>
          <a:xfrm>
            <a:off x="2785533" y="4614333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Agendamento online de serviços de barbearia</a:t>
            </a:r>
            <a:endParaRPr lang="en-US" sz="2100" dirty="0"/>
          </a:p>
        </p:txBody>
      </p:sp>
      <p:sp>
        <p:nvSpPr>
          <p:cNvPr id="11" name="Recurso 2"/>
          <p:cNvSpPr txBox="1"/>
          <p:nvPr/>
        </p:nvSpPr>
        <p:spPr>
          <a:xfrm>
            <a:off x="6773333" y="4614333"/>
            <a:ext cx="27093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Recomendação de cortes por visagismo com IA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namento starsTL" descr="C:\Users\lucas\AppData\Local\Temp\claude\c--Users-lucas-OneDrive-Desktop-barber\73c8ebb9-1ab6-4d32-bf9e-27e027f567b8\scratchpad\img\stars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7067"/>
            <a:ext cx="1964267" cy="533400"/>
          </a:xfrm>
          <a:prstGeom prst="rect">
            <a:avLst/>
          </a:prstGeom>
        </p:spPr>
      </p:pic>
      <p:pic>
        <p:nvPicPr>
          <p:cNvPr id="3" name="Ornamento swirlTR4" descr="C:\Users\lucas\AppData\Local\Temp\claude\c--Users-lucas-OneDrive-Desktop-barber\73c8ebb9-1ab6-4d32-bf9e-27e027f567b8\scratchpad\img\swirlTR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667" y="0"/>
            <a:ext cx="1185333" cy="1905000"/>
          </a:xfrm>
          <a:prstGeom prst="rect">
            <a:avLst/>
          </a:prstGeom>
        </p:spPr>
      </p:pic>
      <p:pic>
        <p:nvPicPr>
          <p:cNvPr id="4" name="Ornamento curvesBL4" descr="C:\Users\lucas\AppData\Local\Temp\claude\c--Users-lucas-OneDrive-Desktop-barber\73c8ebb9-1ab6-4d32-bf9e-27e027f567b8\scratchpad\img\curvesBL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61000"/>
            <a:ext cx="2302933" cy="139700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PROBLEMA</a:t>
            </a:r>
            <a:endParaRPr lang="en-US" sz="4800" dirty="0"/>
          </a:p>
        </p:txBody>
      </p:sp>
      <p:pic>
        <p:nvPicPr>
          <p:cNvPr id="6" name="Ilustração Agendamento informal" descr="C:\Users\lucas\AppData\Local\Temp\claude\c--Users-lucas-OneDrive-Desktop-barber\73c8ebb9-1ab6-4d32-bf9e-27e027f567b8\scratchpad\img\pro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667" y="2582333"/>
            <a:ext cx="1329267" cy="1227667"/>
          </a:xfrm>
          <a:prstGeom prst="rect">
            <a:avLst/>
          </a:prstGeom>
        </p:spPr>
      </p:pic>
      <p:sp>
        <p:nvSpPr>
          <p:cNvPr id="7" name="Agendamento informal"/>
          <p:cNvSpPr txBox="1"/>
          <p:nvPr/>
        </p:nvSpPr>
        <p:spPr>
          <a:xfrm>
            <a:off x="1341967" y="3911600"/>
            <a:ext cx="211666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Agendamento informal</a:t>
            </a:r>
            <a:endParaRPr lang="en-US" sz="2000" dirty="0"/>
          </a:p>
        </p:txBody>
      </p:sp>
      <p:pic>
        <p:nvPicPr>
          <p:cNvPr id="8" name="Ilustração Desorganização da agenda" descr="C:\Users\lucas\AppData\Local\Temp\claude\c--Users-lucas-OneDrive-Desktop-barber\73c8ebb9-1ab6-4d32-bf9e-27e027f567b8\scratchpad\img\prob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624667"/>
            <a:ext cx="1286933" cy="1151467"/>
          </a:xfrm>
          <a:prstGeom prst="rect">
            <a:avLst/>
          </a:prstGeom>
        </p:spPr>
      </p:pic>
      <p:sp>
        <p:nvSpPr>
          <p:cNvPr id="9" name="Desorganização da agenda"/>
          <p:cNvSpPr txBox="1"/>
          <p:nvPr/>
        </p:nvSpPr>
        <p:spPr>
          <a:xfrm>
            <a:off x="4842933" y="3911600"/>
            <a:ext cx="211666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Desorganização da agenda</a:t>
            </a:r>
            <a:endParaRPr lang="en-US" sz="2000" dirty="0"/>
          </a:p>
        </p:txBody>
      </p:sp>
      <p:pic>
        <p:nvPicPr>
          <p:cNvPr id="10" name="Ilustração Falta de personalização" descr="C:\Users\lucas\AppData\Local\Temp\claude\c--Users-lucas-OneDrive-Desktop-barber\73c8ebb9-1ab6-4d32-bf9e-27e027f567b8\scratchpad\img\prob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2489200"/>
            <a:ext cx="1117600" cy="1286933"/>
          </a:xfrm>
          <a:prstGeom prst="rect">
            <a:avLst/>
          </a:prstGeom>
        </p:spPr>
      </p:pic>
      <p:sp>
        <p:nvSpPr>
          <p:cNvPr id="11" name="Falta de personalização"/>
          <p:cNvSpPr txBox="1"/>
          <p:nvPr/>
        </p:nvSpPr>
        <p:spPr>
          <a:xfrm>
            <a:off x="8390467" y="3911600"/>
            <a:ext cx="211666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Falta de personalização</a:t>
            </a:r>
            <a:endParaRPr lang="en-US" sz="2000" dirty="0"/>
          </a:p>
        </p:txBody>
      </p:sp>
      <p:sp>
        <p:nvSpPr>
          <p:cNvPr id="12" name="Estatística"/>
          <p:cNvSpPr txBox="1"/>
          <p:nvPr/>
        </p:nvSpPr>
        <p:spPr>
          <a:xfrm>
            <a:off x="2286000" y="5494867"/>
            <a:ext cx="76200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74% dos brasileiros preferem agendar serviços online.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namento starsTL" descr="C:\Users\lucas\AppData\Local\Temp\claude\c--Users-lucas-OneDrive-Desktop-barber\73c8ebb9-1ab6-4d32-bf9e-27e027f567b8\scratchpad\img\stars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0"/>
            <a:ext cx="1964267" cy="533400"/>
          </a:xfrm>
          <a:prstGeom prst="rect">
            <a:avLst/>
          </a:prstGeom>
        </p:spPr>
      </p:pic>
      <p:pic>
        <p:nvPicPr>
          <p:cNvPr id="3" name="Ornamento archTR" descr="C:\Users\lucas\AppData\Local\Temp\claude\c--Users-lucas-OneDrive-Desktop-barber\73c8ebb9-1ab6-4d32-bf9e-27e027f567b8\scratchpad\img\archT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333" y="0"/>
            <a:ext cx="846667" cy="1286933"/>
          </a:xfrm>
          <a:prstGeom prst="rect">
            <a:avLst/>
          </a:prstGeom>
        </p:spPr>
      </p:pic>
      <p:pic>
        <p:nvPicPr>
          <p:cNvPr id="4" name="Ornamento archBL" descr="C:\Users\lucas\AppData\Local\Temp\claude\c--Users-lucas-OneDrive-Desktop-barber\73c8ebb9-1ab6-4d32-bf9e-27e027f567b8\scratchpad\img\archB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667"/>
            <a:ext cx="846667" cy="1312333"/>
          </a:xfrm>
          <a:prstGeom prst="rect">
            <a:avLst/>
          </a:prstGeom>
        </p:spPr>
      </p:pic>
      <p:pic>
        <p:nvPicPr>
          <p:cNvPr id="5" name="Ornamento starsBR" descr="C:\Users\lucas\AppData\Local\Temp\claude\c--Users-lucas-OneDrive-Desktop-barber\73c8ebb9-1ab6-4d32-bf9e-27e027f567b8\scratchpad\img\stars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9333" y="5969000"/>
            <a:ext cx="1862667" cy="5080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CONCORRENTES / INSPIRAÇÕES</a:t>
            </a:r>
            <a:endParaRPr lang="en-US" sz="4800" dirty="0"/>
          </a:p>
        </p:txBody>
      </p:sp>
      <p:graphicFrame>
        <p:nvGraphicFramePr>
          <p:cNvPr id="6" name="Tabela concorre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64267" y="2032000"/>
          <a:ext cx="8305800" cy="914400"/>
        </p:xfrm>
        <a:graphic>
          <a:graphicData uri="http://schemas.openxmlformats.org/drawingml/2006/table">
            <a:tbl>
              <a:tblPr/>
              <a:tblGrid>
                <a:gridCol w="2768600"/>
                <a:gridCol w="2768600"/>
                <a:gridCol w="2768600"/>
              </a:tblGrid>
              <a:tr h="931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Plataforma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Agendamento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Visagismo</a:t>
                      </a:r>
                      <a:endParaRPr lang="en-US" sz="2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1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AppBarber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1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BestBarbers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13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Visage Barber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Sim" descr="Si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3217333"/>
            <a:ext cx="423333" cy="423333"/>
          </a:xfrm>
          <a:prstGeom prst="rect">
            <a:avLst/>
          </a:prstGeom>
        </p:spPr>
      </p:pic>
      <p:pic>
        <p:nvPicPr>
          <p:cNvPr id="9" name="Não" descr="N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4100" y="3217333"/>
            <a:ext cx="423333" cy="423333"/>
          </a:xfrm>
          <a:prstGeom prst="rect">
            <a:avLst/>
          </a:prstGeom>
        </p:spPr>
      </p:pic>
      <p:pic>
        <p:nvPicPr>
          <p:cNvPr id="10" name="Sim" descr="Si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4148667"/>
            <a:ext cx="423333" cy="423333"/>
          </a:xfrm>
          <a:prstGeom prst="rect">
            <a:avLst/>
          </a:prstGeom>
        </p:spPr>
      </p:pic>
      <p:pic>
        <p:nvPicPr>
          <p:cNvPr id="11" name="Não" descr="Nã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4100" y="4148667"/>
            <a:ext cx="423333" cy="423333"/>
          </a:xfrm>
          <a:prstGeom prst="rect">
            <a:avLst/>
          </a:prstGeom>
        </p:spPr>
      </p:pic>
      <p:pic>
        <p:nvPicPr>
          <p:cNvPr id="12" name="Sim" descr="Sim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0" y="5080000"/>
            <a:ext cx="423333" cy="423333"/>
          </a:xfrm>
          <a:prstGeom prst="rect">
            <a:avLst/>
          </a:prstGeom>
        </p:spPr>
      </p:pic>
      <p:pic>
        <p:nvPicPr>
          <p:cNvPr id="13" name="Sim" descr="Sim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4100" y="5080000"/>
            <a:ext cx="423333" cy="42333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namento starsTL" descr="C:\Users\lucas\AppData\Local\Temp\claude\c--Users-lucas-OneDrive-Desktop-barber\73c8ebb9-1ab6-4d32-bf9e-27e027f567b8\scratchpad\img\stars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0"/>
            <a:ext cx="1964267" cy="533400"/>
          </a:xfrm>
          <a:prstGeom prst="rect">
            <a:avLst/>
          </a:prstGeom>
        </p:spPr>
      </p:pic>
      <p:pic>
        <p:nvPicPr>
          <p:cNvPr id="3" name="Ornamento archTR" descr="C:\Users\lucas\AppData\Local\Temp\claude\c--Users-lucas-OneDrive-Desktop-barber\73c8ebb9-1ab6-4d32-bf9e-27e027f567b8\scratchpad\img\archT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333" y="0"/>
            <a:ext cx="846667" cy="1286933"/>
          </a:xfrm>
          <a:prstGeom prst="rect">
            <a:avLst/>
          </a:prstGeom>
        </p:spPr>
      </p:pic>
      <p:pic>
        <p:nvPicPr>
          <p:cNvPr id="4" name="Ornamento archBL" descr="C:\Users\lucas\AppData\Local\Temp\claude\c--Users-lucas-OneDrive-Desktop-barber\73c8ebb9-1ab6-4d32-bf9e-27e027f567b8\scratchpad\img\archB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667"/>
            <a:ext cx="846667" cy="1312333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MONETIZAÇÃO</a:t>
            </a:r>
            <a:endParaRPr lang="en-US" sz="4800" dirty="0"/>
          </a:p>
        </p:txBody>
      </p:sp>
      <p:graphicFrame>
        <p:nvGraphicFramePr>
          <p:cNvPr id="7" name="Tabela plan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5200" y="1938867"/>
          <a:ext cx="10693400" cy="914400"/>
        </p:xfrm>
        <a:graphic>
          <a:graphicData uri="http://schemas.openxmlformats.org/drawingml/2006/table">
            <a:tbl>
              <a:tblPr/>
              <a:tblGrid>
                <a:gridCol w="1684867"/>
                <a:gridCol w="2650067"/>
                <a:gridCol w="6358467"/>
              </a:tblGrid>
              <a:tr h="8466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chemeClr val="tx1"/>
                          </a:solidFill>
                        </a:rPr>
                        <a:t>Plano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chemeClr val="tx1"/>
                          </a:solidFill>
                        </a:rPr>
                        <a:t>Público-alvo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b="1" dirty="0">
                          <a:solidFill>
                            <a:schemeClr val="tx1"/>
                          </a:solidFill>
                        </a:rPr>
                        <a:t>Recursos</a:t>
                      </a:r>
                      <a:endParaRPr lang="en-US" sz="2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9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Básico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Barbearias pequenas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Agendamento + até 2 barbeiros + módulo de visagismo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9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Pró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Estabelecimentos médios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Agendamento + barbeiros ilimitados + módulo de visagismo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29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Premium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Redes / franquias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Tudo do Pró + suporte prioritário + relatórios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756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Observação"/>
          <p:cNvSpPr txBox="1"/>
          <p:nvPr/>
        </p:nvSpPr>
        <p:spPr>
          <a:xfrm>
            <a:off x="1862667" y="6062133"/>
            <a:ext cx="8466667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cliente final (quem agenda) utiliza a plataforma gratuitamente.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receita vem dos estabelecimentos que assinam o serviço.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namento starsTL" descr="C:\Users\lucas\AppData\Local\Temp\claude\c--Users-lucas-OneDrive-Desktop-barber\73c8ebb9-1ab6-4d32-bf9e-27e027f567b8\scratchpad\img\stars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0"/>
            <a:ext cx="1964267" cy="533400"/>
          </a:xfrm>
          <a:prstGeom prst="rect">
            <a:avLst/>
          </a:prstGeom>
        </p:spPr>
      </p:pic>
      <p:pic>
        <p:nvPicPr>
          <p:cNvPr id="3" name="Ornamento archTR" descr="C:\Users\lucas\AppData\Local\Temp\claude\c--Users-lucas-OneDrive-Desktop-barber\73c8ebb9-1ab6-4d32-bf9e-27e027f567b8\scratchpad\img\archT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333" y="0"/>
            <a:ext cx="846667" cy="1286933"/>
          </a:xfrm>
          <a:prstGeom prst="rect">
            <a:avLst/>
          </a:prstGeom>
        </p:spPr>
      </p:pic>
      <p:pic>
        <p:nvPicPr>
          <p:cNvPr id="4" name="Ornamento archBL" descr="C:\Users\lucas\AppData\Local\Temp\claude\c--Users-lucas-OneDrive-Desktop-barber\73c8ebb9-1ab6-4d32-bf9e-27e027f567b8\scratchpad\img\archB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667"/>
            <a:ext cx="846667" cy="1312333"/>
          </a:xfrm>
          <a:prstGeom prst="rect">
            <a:avLst/>
          </a:prstGeom>
        </p:spPr>
      </p:pic>
      <p:pic>
        <p:nvPicPr>
          <p:cNvPr id="5" name="Ornamento starsBR" descr="C:\Users\lucas\AppData\Local\Temp\claude\c--Users-lucas-OneDrive-Desktop-barber\73c8ebb9-1ab6-4d32-bf9e-27e027f567b8\scratchpad\img\stars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9333" y="5969000"/>
            <a:ext cx="1862667" cy="5080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TECNOLOGIAS UTILIZADAS</a:t>
            </a:r>
            <a:endParaRPr lang="en-US" sz="4800" dirty="0"/>
          </a:p>
        </p:txBody>
      </p:sp>
      <p:pic>
        <p:nvPicPr>
          <p:cNvPr id="7" name="Logo React" descr="Reac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2294467"/>
            <a:ext cx="889000" cy="829733"/>
          </a:xfrm>
          <a:prstGeom prst="rect">
            <a:avLst/>
          </a:prstGeom>
        </p:spPr>
      </p:pic>
      <p:sp>
        <p:nvSpPr>
          <p:cNvPr id="8" name="React"/>
          <p:cNvSpPr txBox="1"/>
          <p:nvPr/>
        </p:nvSpPr>
        <p:spPr>
          <a:xfrm>
            <a:off x="931333" y="3251200"/>
            <a:ext cx="2455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(Web)</a:t>
            </a:r>
            <a:endParaRPr lang="en-US" sz="1800" dirty="0"/>
          </a:p>
        </p:txBody>
      </p:sp>
      <p:pic>
        <p:nvPicPr>
          <p:cNvPr id="9" name="Logo React Native + Expo" descr="React Native + Exp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267" y="2302933"/>
            <a:ext cx="812800" cy="812800"/>
          </a:xfrm>
          <a:prstGeom prst="rect">
            <a:avLst/>
          </a:prstGeom>
        </p:spPr>
      </p:pic>
      <p:sp>
        <p:nvSpPr>
          <p:cNvPr id="10" name="React Native + Expo"/>
          <p:cNvSpPr txBox="1"/>
          <p:nvPr/>
        </p:nvSpPr>
        <p:spPr>
          <a:xfrm>
            <a:off x="3556000" y="3251200"/>
            <a:ext cx="2455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React Native + Expo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(Mobile)</a:t>
            </a:r>
            <a:endParaRPr lang="en-US" sz="1800" dirty="0"/>
          </a:p>
        </p:txBody>
      </p:sp>
      <p:pic>
        <p:nvPicPr>
          <p:cNvPr id="11" name="Logo Node.js + Express" descr="Node.js + Expres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867" y="2307167"/>
            <a:ext cx="778933" cy="804333"/>
          </a:xfrm>
          <a:prstGeom prst="rect">
            <a:avLst/>
          </a:prstGeom>
        </p:spPr>
      </p:pic>
      <p:sp>
        <p:nvSpPr>
          <p:cNvPr id="12" name="Node.js + Express"/>
          <p:cNvSpPr txBox="1"/>
          <p:nvPr/>
        </p:nvSpPr>
        <p:spPr>
          <a:xfrm>
            <a:off x="6180667" y="3251200"/>
            <a:ext cx="2455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Node.js + Express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(Back-end)</a:t>
            </a:r>
            <a:endParaRPr lang="en-US" sz="1800" dirty="0"/>
          </a:p>
        </p:txBody>
      </p:sp>
      <p:pic>
        <p:nvPicPr>
          <p:cNvPr id="13" name="Logo Supabase" descr="Supabas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5733" y="2286000"/>
            <a:ext cx="1134533" cy="846667"/>
          </a:xfrm>
          <a:prstGeom prst="rect">
            <a:avLst/>
          </a:prstGeom>
        </p:spPr>
      </p:pic>
      <p:sp>
        <p:nvSpPr>
          <p:cNvPr id="14" name="Supabase"/>
          <p:cNvSpPr txBox="1"/>
          <p:nvPr/>
        </p:nvSpPr>
        <p:spPr>
          <a:xfrm>
            <a:off x="8805333" y="3251200"/>
            <a:ext cx="2455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Supabase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(Banco de Dados)</a:t>
            </a:r>
            <a:endParaRPr lang="en-US" sz="1800" dirty="0"/>
          </a:p>
        </p:txBody>
      </p:sp>
      <p:pic>
        <p:nvPicPr>
          <p:cNvPr id="15" name="Logo Google Gemini" descr="Google Gemin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4933" y="4351867"/>
            <a:ext cx="812800" cy="812800"/>
          </a:xfrm>
          <a:prstGeom prst="rect">
            <a:avLst/>
          </a:prstGeom>
        </p:spPr>
      </p:pic>
      <p:sp>
        <p:nvSpPr>
          <p:cNvPr id="16" name="Google Gemini"/>
          <p:cNvSpPr txBox="1"/>
          <p:nvPr/>
        </p:nvSpPr>
        <p:spPr>
          <a:xfrm>
            <a:off x="2243667" y="5300133"/>
            <a:ext cx="2455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Google Gemini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(IA do Visagismo)</a:t>
            </a:r>
            <a:endParaRPr lang="en-US" sz="1800" dirty="0"/>
          </a:p>
        </p:txBody>
      </p:sp>
      <p:pic>
        <p:nvPicPr>
          <p:cNvPr id="17" name="Logo GitHub" descr="GitHub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6900" y="4330700"/>
            <a:ext cx="838200" cy="855133"/>
          </a:xfrm>
          <a:prstGeom prst="rect">
            <a:avLst/>
          </a:prstGeom>
        </p:spPr>
      </p:pic>
      <p:sp>
        <p:nvSpPr>
          <p:cNvPr id="18" name="GitHub"/>
          <p:cNvSpPr txBox="1"/>
          <p:nvPr/>
        </p:nvSpPr>
        <p:spPr>
          <a:xfrm>
            <a:off x="4868333" y="5300133"/>
            <a:ext cx="2455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GitHub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(Versionamento)</a:t>
            </a:r>
            <a:endParaRPr lang="en-US" sz="1800" dirty="0"/>
          </a:p>
        </p:txBody>
      </p:sp>
      <p:pic>
        <p:nvPicPr>
          <p:cNvPr id="19" name="Logo Git" descr="Gi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0400" y="4322233"/>
            <a:ext cx="880533" cy="872067"/>
          </a:xfrm>
          <a:prstGeom prst="rect">
            <a:avLst/>
          </a:prstGeom>
        </p:spPr>
      </p:pic>
      <p:sp>
        <p:nvSpPr>
          <p:cNvPr id="20" name="Git"/>
          <p:cNvSpPr txBox="1"/>
          <p:nvPr/>
        </p:nvSpPr>
        <p:spPr>
          <a:xfrm>
            <a:off x="7493000" y="5300133"/>
            <a:ext cx="2455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(Versionamento)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namento astTL" descr="C:\Users\lucas\AppData\Local\Temp\claude\c--Users-lucas-OneDrive-Desktop-barber\73c8ebb9-1ab6-4d32-bf9e-27e027f567b8\scratchpad\img\ast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333" y="321733"/>
            <a:ext cx="787400" cy="762000"/>
          </a:xfrm>
          <a:prstGeom prst="rect">
            <a:avLst/>
          </a:prstGeom>
        </p:spPr>
      </p:pic>
      <p:pic>
        <p:nvPicPr>
          <p:cNvPr id="3" name="Ornamento archTR" descr="C:\Users\lucas\AppData\Local\Temp\claude\c--Users-lucas-OneDrive-Desktop-barber\73c8ebb9-1ab6-4d32-bf9e-27e027f567b8\scratchpad\img\archT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333" y="0"/>
            <a:ext cx="846667" cy="1286933"/>
          </a:xfrm>
          <a:prstGeom prst="rect">
            <a:avLst/>
          </a:prstGeom>
        </p:spPr>
      </p:pic>
      <p:pic>
        <p:nvPicPr>
          <p:cNvPr id="4" name="Ornamento archBL" descr="C:\Users\lucas\AppData\Local\Temp\claude\c--Users-lucas-OneDrive-Desktop-barber\73c8ebb9-1ab6-4d32-bf9e-27e027f567b8\scratchpad\img\archB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667"/>
            <a:ext cx="846667" cy="1312333"/>
          </a:xfrm>
          <a:prstGeom prst="rect">
            <a:avLst/>
          </a:prstGeom>
        </p:spPr>
      </p:pic>
      <p:pic>
        <p:nvPicPr>
          <p:cNvPr id="5" name="Ornamento astBR" descr="C:\Users\lucas\AppData\Local\Temp\claude\c--Users-lucas-OneDrive-Desktop-barber\73c8ebb9-1ab6-4d32-bf9e-27e027f567b8\scratchpad\img\ast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400" y="5588000"/>
            <a:ext cx="795867" cy="7620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846667"/>
            <a:ext cx="11091672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REQUISITOS FUNCIONAIS</a:t>
            </a:r>
            <a:endParaRPr lang="en-US" sz="4800" dirty="0"/>
          </a:p>
        </p:txBody>
      </p:sp>
      <p:pic>
        <p:nvPicPr>
          <p:cNvPr id="7" name="RF01 status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" y="1998133"/>
            <a:ext cx="152400" cy="152400"/>
          </a:xfrm>
          <a:prstGeom prst="rect">
            <a:avLst/>
          </a:prstGeom>
        </p:spPr>
      </p:pic>
      <p:sp>
        <p:nvSpPr>
          <p:cNvPr id="8" name="RF01"/>
          <p:cNvSpPr txBox="1"/>
          <p:nvPr/>
        </p:nvSpPr>
        <p:spPr>
          <a:xfrm>
            <a:off x="787400" y="196426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RF01 - Cadastro de usuários com perfis distintos</a:t>
            </a:r>
            <a:endParaRPr lang="en-US" sz="1300" dirty="0"/>
          </a:p>
        </p:txBody>
      </p:sp>
      <p:pic>
        <p:nvPicPr>
          <p:cNvPr id="9" name="RF02 status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00" y="2219960"/>
            <a:ext cx="152400" cy="152400"/>
          </a:xfrm>
          <a:prstGeom prst="rect">
            <a:avLst/>
          </a:prstGeom>
        </p:spPr>
      </p:pic>
      <p:sp>
        <p:nvSpPr>
          <p:cNvPr id="10" name="RF02"/>
          <p:cNvSpPr txBox="1"/>
          <p:nvPr/>
        </p:nvSpPr>
        <p:spPr>
          <a:xfrm>
            <a:off x="787400" y="218609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RF02 - Autenticação por e-mail e senha</a:t>
            </a:r>
            <a:endParaRPr lang="en-US" sz="1300" dirty="0"/>
          </a:p>
        </p:txBody>
      </p:sp>
      <p:pic>
        <p:nvPicPr>
          <p:cNvPr id="11" name="RF03 status" descr="Concluíd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800" y="2441787"/>
            <a:ext cx="152400" cy="152400"/>
          </a:xfrm>
          <a:prstGeom prst="rect">
            <a:avLst/>
          </a:prstGeom>
        </p:spPr>
      </p:pic>
      <p:sp>
        <p:nvSpPr>
          <p:cNvPr id="12" name="RF03"/>
          <p:cNvSpPr txBox="1"/>
          <p:nvPr/>
        </p:nvSpPr>
        <p:spPr>
          <a:xfrm>
            <a:off x="787400" y="2407920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RF03 - Cadastro de cortes</a:t>
            </a:r>
            <a:endParaRPr lang="en-US" sz="1300" dirty="0"/>
          </a:p>
        </p:txBody>
      </p:sp>
      <p:pic>
        <p:nvPicPr>
          <p:cNvPr id="13" name="RF04 status" descr="Concluíd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800" y="2663613"/>
            <a:ext cx="152400" cy="152400"/>
          </a:xfrm>
          <a:prstGeom prst="rect">
            <a:avLst/>
          </a:prstGeom>
        </p:spPr>
      </p:pic>
      <p:sp>
        <p:nvSpPr>
          <p:cNvPr id="14" name="RF04"/>
          <p:cNvSpPr txBox="1"/>
          <p:nvPr/>
        </p:nvSpPr>
        <p:spPr>
          <a:xfrm>
            <a:off x="787400" y="262974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RF04 - Cadastro de barbeiros</a:t>
            </a:r>
            <a:endParaRPr lang="en-US" sz="1300" dirty="0"/>
          </a:p>
        </p:txBody>
      </p:sp>
      <p:pic>
        <p:nvPicPr>
          <p:cNvPr id="15" name="RF05 status" descr="Concluíd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800" y="2885440"/>
            <a:ext cx="152400" cy="152400"/>
          </a:xfrm>
          <a:prstGeom prst="rect">
            <a:avLst/>
          </a:prstGeom>
        </p:spPr>
      </p:pic>
      <p:sp>
        <p:nvSpPr>
          <p:cNvPr id="16" name="RF05"/>
          <p:cNvSpPr txBox="1"/>
          <p:nvPr/>
        </p:nvSpPr>
        <p:spPr>
          <a:xfrm>
            <a:off x="787400" y="285157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RF05 - Definição de horários de funcionamento e disponibilidade</a:t>
            </a:r>
            <a:endParaRPr lang="en-US" sz="1300" dirty="0"/>
          </a:p>
        </p:txBody>
      </p:sp>
      <p:pic>
        <p:nvPicPr>
          <p:cNvPr id="17" name="RF06 status" descr="Concluíd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800" y="3107267"/>
            <a:ext cx="152400" cy="152400"/>
          </a:xfrm>
          <a:prstGeom prst="rect">
            <a:avLst/>
          </a:prstGeom>
        </p:spPr>
      </p:pic>
      <p:sp>
        <p:nvSpPr>
          <p:cNvPr id="18" name="RF06"/>
          <p:cNvSpPr txBox="1"/>
          <p:nvPr/>
        </p:nvSpPr>
        <p:spPr>
          <a:xfrm>
            <a:off x="787400" y="3073400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RF06 - Visualização de barbeiros, serviços e horários disponíveis</a:t>
            </a:r>
            <a:endParaRPr lang="en-US" sz="1300" dirty="0"/>
          </a:p>
        </p:txBody>
      </p:sp>
      <p:pic>
        <p:nvPicPr>
          <p:cNvPr id="19" name="RF07 status" descr="Concluíd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8800" y="3329093"/>
            <a:ext cx="152400" cy="152400"/>
          </a:xfrm>
          <a:prstGeom prst="rect">
            <a:avLst/>
          </a:prstGeom>
        </p:spPr>
      </p:pic>
      <p:sp>
        <p:nvSpPr>
          <p:cNvPr id="20" name="RF07"/>
          <p:cNvSpPr txBox="1"/>
          <p:nvPr/>
        </p:nvSpPr>
        <p:spPr>
          <a:xfrm>
            <a:off x="787400" y="329522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RF07 - Agendamento com escolha de barbeiro, serviço e horário</a:t>
            </a:r>
            <a:endParaRPr lang="en-US" sz="1300" dirty="0"/>
          </a:p>
        </p:txBody>
      </p:sp>
      <p:pic>
        <p:nvPicPr>
          <p:cNvPr id="21" name="RF08 status" descr="Concluíd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800" y="3550920"/>
            <a:ext cx="152400" cy="152400"/>
          </a:xfrm>
          <a:prstGeom prst="rect">
            <a:avLst/>
          </a:prstGeom>
        </p:spPr>
      </p:pic>
      <p:sp>
        <p:nvSpPr>
          <p:cNvPr id="22" name="RF08"/>
          <p:cNvSpPr txBox="1"/>
          <p:nvPr/>
        </p:nvSpPr>
        <p:spPr>
          <a:xfrm>
            <a:off x="787400" y="351705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RF08 - Cancelamento de agendamento pelo cliente</a:t>
            </a:r>
            <a:endParaRPr lang="en-US" sz="1300" dirty="0"/>
          </a:p>
        </p:txBody>
      </p:sp>
      <p:pic>
        <p:nvPicPr>
          <p:cNvPr id="23" name="RF09 status" descr="Concluíd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800" y="3772747"/>
            <a:ext cx="152400" cy="152400"/>
          </a:xfrm>
          <a:prstGeom prst="rect">
            <a:avLst/>
          </a:prstGeom>
        </p:spPr>
      </p:pic>
      <p:sp>
        <p:nvSpPr>
          <p:cNvPr id="24" name="RF09"/>
          <p:cNvSpPr txBox="1"/>
          <p:nvPr/>
        </p:nvSpPr>
        <p:spPr>
          <a:xfrm>
            <a:off x="787400" y="3738880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RF09 - Visualização dos horários agendados pelo cliente</a:t>
            </a:r>
            <a:endParaRPr lang="en-US" sz="1300" dirty="0"/>
          </a:p>
        </p:txBody>
      </p:sp>
      <p:pic>
        <p:nvPicPr>
          <p:cNvPr id="25" name="RF10 status" descr="Concluíd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800" y="3994573"/>
            <a:ext cx="152400" cy="152400"/>
          </a:xfrm>
          <a:prstGeom prst="rect">
            <a:avLst/>
          </a:prstGeom>
        </p:spPr>
      </p:pic>
      <p:sp>
        <p:nvSpPr>
          <p:cNvPr id="26" name="RF10"/>
          <p:cNvSpPr txBox="1"/>
          <p:nvPr/>
        </p:nvSpPr>
        <p:spPr>
          <a:xfrm>
            <a:off x="787400" y="396070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RF10 - Módulo de visagismo disponível na tela inicial</a:t>
            </a:r>
            <a:endParaRPr lang="en-US" sz="1300" dirty="0"/>
          </a:p>
        </p:txBody>
      </p:sp>
      <p:pic>
        <p:nvPicPr>
          <p:cNvPr id="27" name="RF11 status" descr="Concluíd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800" y="4216400"/>
            <a:ext cx="152400" cy="152400"/>
          </a:xfrm>
          <a:prstGeom prst="rect">
            <a:avLst/>
          </a:prstGeom>
        </p:spPr>
      </p:pic>
      <p:sp>
        <p:nvSpPr>
          <p:cNvPr id="28" name="RF11"/>
          <p:cNvSpPr txBox="1"/>
          <p:nvPr/>
        </p:nvSpPr>
        <p:spPr>
          <a:xfrm>
            <a:off x="787400" y="418253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RF11 - Envio de foto para análise do formato facial</a:t>
            </a:r>
            <a:endParaRPr lang="en-US" sz="1300" dirty="0"/>
          </a:p>
        </p:txBody>
      </p:sp>
      <p:pic>
        <p:nvPicPr>
          <p:cNvPr id="29" name="RF12 status" descr="Concluíd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8800" y="4438227"/>
            <a:ext cx="152400" cy="152400"/>
          </a:xfrm>
          <a:prstGeom prst="rect">
            <a:avLst/>
          </a:prstGeom>
        </p:spPr>
      </p:pic>
      <p:sp>
        <p:nvSpPr>
          <p:cNvPr id="30" name="RF12"/>
          <p:cNvSpPr txBox="1"/>
          <p:nvPr/>
        </p:nvSpPr>
        <p:spPr>
          <a:xfrm>
            <a:off x="787400" y="4404360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RF12 - Perguntas sobre preferências e estilo pessoal</a:t>
            </a:r>
            <a:endParaRPr lang="en-US" sz="1300" dirty="0"/>
          </a:p>
        </p:txBody>
      </p:sp>
      <p:pic>
        <p:nvPicPr>
          <p:cNvPr id="31" name="RF13 status" descr="Concluíd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8800" y="4660053"/>
            <a:ext cx="152400" cy="152400"/>
          </a:xfrm>
          <a:prstGeom prst="rect">
            <a:avLst/>
          </a:prstGeom>
        </p:spPr>
      </p:pic>
      <p:sp>
        <p:nvSpPr>
          <p:cNvPr id="32" name="RF13"/>
          <p:cNvSpPr txBox="1"/>
          <p:nvPr/>
        </p:nvSpPr>
        <p:spPr>
          <a:xfrm>
            <a:off x="787400" y="462618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RF13 - Geração de recomendação personalizada de corte</a:t>
            </a:r>
            <a:endParaRPr lang="en-US" sz="1300" dirty="0"/>
          </a:p>
        </p:txBody>
      </p:sp>
      <p:pic>
        <p:nvPicPr>
          <p:cNvPr id="33" name="RF14 status" descr="Concluído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70600" y="1998133"/>
            <a:ext cx="152400" cy="152400"/>
          </a:xfrm>
          <a:prstGeom prst="rect">
            <a:avLst/>
          </a:prstGeom>
        </p:spPr>
      </p:pic>
      <p:sp>
        <p:nvSpPr>
          <p:cNvPr id="34" name="RF14"/>
          <p:cNvSpPr txBox="1"/>
          <p:nvPr/>
        </p:nvSpPr>
        <p:spPr>
          <a:xfrm>
            <a:off x="6299200" y="196426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RF14 - Visualização da agenda do dia pelo barbeiro</a:t>
            </a:r>
            <a:endParaRPr lang="en-US" sz="1300" dirty="0"/>
          </a:p>
        </p:txBody>
      </p:sp>
      <p:pic>
        <p:nvPicPr>
          <p:cNvPr id="35" name="RF15 status" descr="Concluído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70600" y="2219960"/>
            <a:ext cx="152400" cy="152400"/>
          </a:xfrm>
          <a:prstGeom prst="rect">
            <a:avLst/>
          </a:prstGeom>
        </p:spPr>
      </p:pic>
      <p:sp>
        <p:nvSpPr>
          <p:cNvPr id="36" name="RF15"/>
          <p:cNvSpPr txBox="1"/>
          <p:nvPr/>
        </p:nvSpPr>
        <p:spPr>
          <a:xfrm>
            <a:off x="6299200" y="218609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RF15 - Tela inicial com apresentação da proposta do Visage Barber</a:t>
            </a:r>
            <a:endParaRPr lang="en-US" sz="1300" dirty="0"/>
          </a:p>
        </p:txBody>
      </p:sp>
      <p:pic>
        <p:nvPicPr>
          <p:cNvPr id="37" name="RF16 status" descr="Concluído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70600" y="2441787"/>
            <a:ext cx="152400" cy="152400"/>
          </a:xfrm>
          <a:prstGeom prst="rect">
            <a:avLst/>
          </a:prstGeom>
        </p:spPr>
      </p:pic>
      <p:sp>
        <p:nvSpPr>
          <p:cNvPr id="38" name="RF16"/>
          <p:cNvSpPr txBox="1"/>
          <p:nvPr/>
        </p:nvSpPr>
        <p:spPr>
          <a:xfrm>
            <a:off x="6299200" y="2407920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RF16 - Diferenciação de acesso entre cliente e administrador na tela inicial</a:t>
            </a:r>
            <a:endParaRPr lang="en-US" sz="1300" dirty="0"/>
          </a:p>
        </p:txBody>
      </p:sp>
      <p:pic>
        <p:nvPicPr>
          <p:cNvPr id="39" name="RF17 status" descr="Concluído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70600" y="2663613"/>
            <a:ext cx="152400" cy="152400"/>
          </a:xfrm>
          <a:prstGeom prst="rect">
            <a:avLst/>
          </a:prstGeom>
        </p:spPr>
      </p:pic>
      <p:sp>
        <p:nvSpPr>
          <p:cNvPr id="40" name="RF17"/>
          <p:cNvSpPr txBox="1"/>
          <p:nvPr/>
        </p:nvSpPr>
        <p:spPr>
          <a:xfrm>
            <a:off x="6299200" y="262974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RF17 - Histórico de agendamentos anteriores do cliente</a:t>
            </a:r>
            <a:endParaRPr lang="en-US" sz="1300" dirty="0"/>
          </a:p>
        </p:txBody>
      </p:sp>
      <p:pic>
        <p:nvPicPr>
          <p:cNvPr id="41" name="RF18 status" descr="Concluído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70600" y="2885440"/>
            <a:ext cx="152400" cy="152400"/>
          </a:xfrm>
          <a:prstGeom prst="rect">
            <a:avLst/>
          </a:prstGeom>
        </p:spPr>
      </p:pic>
      <p:sp>
        <p:nvSpPr>
          <p:cNvPr id="42" name="RF18"/>
          <p:cNvSpPr txBox="1"/>
          <p:nvPr/>
        </p:nvSpPr>
        <p:spPr>
          <a:xfrm>
            <a:off x="6299200" y="285157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RF18 - Edição de dados cadastrais pelo cliente</a:t>
            </a:r>
            <a:endParaRPr lang="en-US" sz="1300" dirty="0"/>
          </a:p>
        </p:txBody>
      </p:sp>
      <p:pic>
        <p:nvPicPr>
          <p:cNvPr id="43" name="RF19 status" descr="Em desenvolvimento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70600" y="3107267"/>
            <a:ext cx="152400" cy="152400"/>
          </a:xfrm>
          <a:prstGeom prst="rect">
            <a:avLst/>
          </a:prstGeom>
        </p:spPr>
      </p:pic>
      <p:sp>
        <p:nvSpPr>
          <p:cNvPr id="44" name="RF19"/>
          <p:cNvSpPr txBox="1"/>
          <p:nvPr/>
        </p:nvSpPr>
        <p:spPr>
          <a:xfrm>
            <a:off x="6299200" y="3073400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RF19 - Catálogo de cortes com nome, descrição e imagem</a:t>
            </a:r>
            <a:endParaRPr lang="en-US" sz="1300" dirty="0"/>
          </a:p>
        </p:txBody>
      </p:sp>
      <p:pic>
        <p:nvPicPr>
          <p:cNvPr id="45" name="RF20 status" descr="Concluído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70600" y="3329093"/>
            <a:ext cx="152400" cy="152400"/>
          </a:xfrm>
          <a:prstGeom prst="rect">
            <a:avLst/>
          </a:prstGeom>
        </p:spPr>
      </p:pic>
      <p:sp>
        <p:nvSpPr>
          <p:cNvPr id="46" name="RF20"/>
          <p:cNvSpPr txBox="1"/>
          <p:nvPr/>
        </p:nvSpPr>
        <p:spPr>
          <a:xfrm>
            <a:off x="6299200" y="329522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RF20 - Dashboard com indicadores do estabelecimento</a:t>
            </a:r>
            <a:endParaRPr lang="en-US" sz="1300" dirty="0"/>
          </a:p>
        </p:txBody>
      </p:sp>
      <p:pic>
        <p:nvPicPr>
          <p:cNvPr id="47" name="RF21 status" descr="Em desenvolvimento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70600" y="3550920"/>
            <a:ext cx="152400" cy="152400"/>
          </a:xfrm>
          <a:prstGeom prst="rect">
            <a:avLst/>
          </a:prstGeom>
        </p:spPr>
      </p:pic>
      <p:sp>
        <p:nvSpPr>
          <p:cNvPr id="48" name="RF21"/>
          <p:cNvSpPr txBox="1"/>
          <p:nvPr/>
        </p:nvSpPr>
        <p:spPr>
          <a:xfrm>
            <a:off x="6299200" y="351705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RF21 - Visualização de agendamentos com filtros por data, barbeiro e status</a:t>
            </a:r>
            <a:endParaRPr lang="en-US" sz="1300" dirty="0"/>
          </a:p>
        </p:txBody>
      </p:sp>
      <p:pic>
        <p:nvPicPr>
          <p:cNvPr id="49" name="RF22 status" descr="Concluído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70600" y="3772747"/>
            <a:ext cx="152400" cy="152400"/>
          </a:xfrm>
          <a:prstGeom prst="rect">
            <a:avLst/>
          </a:prstGeom>
        </p:spPr>
      </p:pic>
      <p:sp>
        <p:nvSpPr>
          <p:cNvPr id="50" name="RF22"/>
          <p:cNvSpPr txBox="1"/>
          <p:nvPr/>
        </p:nvSpPr>
        <p:spPr>
          <a:xfrm>
            <a:off x="6299200" y="3738880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RF22 - Ativação e desativação de barbeiros</a:t>
            </a:r>
            <a:endParaRPr lang="en-US" sz="1300" dirty="0"/>
          </a:p>
        </p:txBody>
      </p:sp>
      <p:pic>
        <p:nvPicPr>
          <p:cNvPr id="51" name="RF23 status" descr="Em desenvolvimento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70600" y="3994573"/>
            <a:ext cx="152400" cy="152400"/>
          </a:xfrm>
          <a:prstGeom prst="rect">
            <a:avLst/>
          </a:prstGeom>
        </p:spPr>
      </p:pic>
      <p:sp>
        <p:nvSpPr>
          <p:cNvPr id="52" name="RF23"/>
          <p:cNvSpPr txBox="1"/>
          <p:nvPr/>
        </p:nvSpPr>
        <p:spPr>
          <a:xfrm>
            <a:off x="6299200" y="396070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RF23 - Ativação e desativação de cortes do catálogo</a:t>
            </a:r>
            <a:endParaRPr lang="en-US" sz="1300" dirty="0"/>
          </a:p>
        </p:txBody>
      </p:sp>
      <p:pic>
        <p:nvPicPr>
          <p:cNvPr id="53" name="RF24 status" descr="Concluído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70600" y="4216400"/>
            <a:ext cx="152400" cy="152400"/>
          </a:xfrm>
          <a:prstGeom prst="rect">
            <a:avLst/>
          </a:prstGeom>
        </p:spPr>
      </p:pic>
      <p:sp>
        <p:nvSpPr>
          <p:cNvPr id="54" name="RF24"/>
          <p:cNvSpPr txBox="1"/>
          <p:nvPr/>
        </p:nvSpPr>
        <p:spPr>
          <a:xfrm>
            <a:off x="6299200" y="418253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RF24 - Atualização de status do atendimento pelo barbeiro</a:t>
            </a:r>
            <a:endParaRPr lang="en-US" sz="1300" dirty="0"/>
          </a:p>
        </p:txBody>
      </p:sp>
      <p:pic>
        <p:nvPicPr>
          <p:cNvPr id="55" name="RF25 status" descr="Concluído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70600" y="4438227"/>
            <a:ext cx="152400" cy="152400"/>
          </a:xfrm>
          <a:prstGeom prst="rect">
            <a:avLst/>
          </a:prstGeom>
        </p:spPr>
      </p:pic>
      <p:sp>
        <p:nvSpPr>
          <p:cNvPr id="56" name="RF25"/>
          <p:cNvSpPr txBox="1"/>
          <p:nvPr/>
        </p:nvSpPr>
        <p:spPr>
          <a:xfrm>
            <a:off x="6299200" y="4404360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RF25 - Cadastro direto pelo cliente na plataforma</a:t>
            </a:r>
            <a:endParaRPr lang="en-US" sz="1300" dirty="0"/>
          </a:p>
        </p:txBody>
      </p:sp>
      <p:pic>
        <p:nvPicPr>
          <p:cNvPr id="57" name="RF26 status" descr="Em desenvolvimento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70600" y="4660053"/>
            <a:ext cx="152400" cy="152400"/>
          </a:xfrm>
          <a:prstGeom prst="rect">
            <a:avLst/>
          </a:prstGeom>
        </p:spPr>
      </p:pic>
      <p:sp>
        <p:nvSpPr>
          <p:cNvPr id="58" name="RF26"/>
          <p:cNvSpPr txBox="1"/>
          <p:nvPr/>
        </p:nvSpPr>
        <p:spPr>
          <a:xfrm>
            <a:off x="6299200" y="4626187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RF26 - Visualização do perfil completo do cliente pelo administrador</a:t>
            </a:r>
            <a:endParaRPr lang="en-US" sz="1300" dirty="0"/>
          </a:p>
        </p:txBody>
      </p:sp>
      <p:pic>
        <p:nvPicPr>
          <p:cNvPr id="59" name="RF27 status" descr="Em desenvolvimento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70600" y="4881880"/>
            <a:ext cx="152400" cy="152400"/>
          </a:xfrm>
          <a:prstGeom prst="rect">
            <a:avLst/>
          </a:prstGeom>
        </p:spPr>
      </p:pic>
      <p:sp>
        <p:nvSpPr>
          <p:cNvPr id="60" name="RF27"/>
          <p:cNvSpPr txBox="1"/>
          <p:nvPr/>
        </p:nvSpPr>
        <p:spPr>
          <a:xfrm>
            <a:off x="6299200" y="4848013"/>
            <a:ext cx="5249333" cy="22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RF27 - Envio de notificação para barbeiros pós agendamento</a:t>
            </a:r>
            <a:endParaRPr lang="en-US" sz="1300" dirty="0"/>
          </a:p>
        </p:txBody>
      </p:sp>
      <p:sp>
        <p:nvSpPr>
          <p:cNvPr id="61" name="Faixa resumo"/>
          <p:cNvSpPr/>
          <p:nvPr/>
        </p:nvSpPr>
        <p:spPr>
          <a:xfrm>
            <a:off x="1016000" y="5181600"/>
            <a:ext cx="10117667" cy="762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2" name="Legenda concluído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02267" y="5300133"/>
            <a:ext cx="169333" cy="169333"/>
          </a:xfrm>
          <a:prstGeom prst="rect">
            <a:avLst/>
          </a:prstGeom>
        </p:spPr>
      </p:pic>
      <p:sp>
        <p:nvSpPr>
          <p:cNvPr id="63" name="Legenda concluído texto"/>
          <p:cNvSpPr txBox="1"/>
          <p:nvPr/>
        </p:nvSpPr>
        <p:spPr>
          <a:xfrm>
            <a:off x="1439333" y="5257800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Concluído (22 de 27)</a:t>
            </a:r>
            <a:endParaRPr lang="en-US" sz="1400" dirty="0"/>
          </a:p>
        </p:txBody>
      </p:sp>
      <p:pic>
        <p:nvPicPr>
          <p:cNvPr id="64" name="Legenda em desenvolvimento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56000" y="5300133"/>
            <a:ext cx="169333" cy="169333"/>
          </a:xfrm>
          <a:prstGeom prst="rect">
            <a:avLst/>
          </a:prstGeom>
        </p:spPr>
      </p:pic>
      <p:sp>
        <p:nvSpPr>
          <p:cNvPr id="65" name="Legenda em desenvolvimento texto"/>
          <p:cNvSpPr txBox="1"/>
          <p:nvPr/>
        </p:nvSpPr>
        <p:spPr>
          <a:xfrm>
            <a:off x="3793067" y="52578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 desenvolvimento (5)</a:t>
            </a:r>
            <a:endParaRPr lang="en-US" sz="1400" dirty="0"/>
          </a:p>
        </p:txBody>
      </p:sp>
      <p:sp>
        <p:nvSpPr>
          <p:cNvPr id="66" name="Além do escopo"/>
          <p:cNvSpPr txBox="1"/>
          <p:nvPr/>
        </p:nvSpPr>
        <p:spPr>
          <a:xfrm>
            <a:off x="1202267" y="5571067"/>
            <a:ext cx="982133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Além do escopo inicial: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 entre cliente e barbeiro  ·  avaliação do atendimento  ·  recuperação de senha  ·  tema claro e escuro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1185333"/>
            <a:ext cx="1109167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DEMONSTRAÇÃO</a:t>
            </a:r>
            <a:endParaRPr lang="en-US" sz="5000" dirty="0"/>
          </a:p>
        </p:txBody>
      </p:sp>
      <p:pic>
        <p:nvPicPr>
          <p:cNvPr id="3" name="Ilustração demonstração" descr="C:\Users\lucas\AppData\Local\Temp\claude\c--Users-lucas-OneDrive-Desktop-barber\73c8ebb9-1ab6-4d32-bf9e-27e027f567b8\scratchpad\img\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7933" y="2675467"/>
            <a:ext cx="3793067" cy="284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1185333"/>
            <a:ext cx="1109167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DÚVIDAS</a:t>
            </a:r>
            <a:endParaRPr lang="en-US" sz="5000" dirty="0"/>
          </a:p>
        </p:txBody>
      </p:sp>
      <p:pic>
        <p:nvPicPr>
          <p:cNvPr id="3" name="Ilustração dúvidas" descr="C:\Users\lucas\AppData\Local\Temp\claude\c--Users-lucas-OneDrive-Desktop-barber\73c8ebb9-1ab6-4d32-bf9e-27e027f567b8\scratchpad\img\duvi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733" y="2218267"/>
            <a:ext cx="4351867" cy="4597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1397000"/>
            <a:ext cx="11091672" cy="1058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chemeClr val="tx1"/>
                </a:solidFill>
              </a:rPr>
              <a:t>A EQUIPE AGRADECE!</a:t>
            </a:r>
            <a:endParaRPr lang="en-US" sz="5800" dirty="0"/>
          </a:p>
        </p:txBody>
      </p:sp>
      <p:pic>
        <p:nvPicPr>
          <p:cNvPr id="3" name="Logo Visage Barber" descr="C:\Users\lucas\AppData\Local\Temp\claude\c--Users-lucas-OneDrive-Desktop-barber\73c8ebb9-1ab6-4d32-bf9e-27e027f567b8\scratchpad\im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867" y="4910667"/>
            <a:ext cx="1761067" cy="1761067"/>
          </a:xfrm>
          <a:prstGeom prst="rect">
            <a:avLst/>
          </a:prstGeom>
        </p:spPr>
      </p:pic>
      <p:sp>
        <p:nvSpPr>
          <p:cNvPr id="4" name="Contatos título"/>
          <p:cNvSpPr txBox="1"/>
          <p:nvPr/>
        </p:nvSpPr>
        <p:spPr>
          <a:xfrm>
            <a:off x="3556000" y="3539067"/>
            <a:ext cx="5080000" cy="47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Contatos:</a:t>
            </a:r>
            <a:endParaRPr lang="en-US" sz="2700" dirty="0"/>
          </a:p>
        </p:txBody>
      </p:sp>
      <p:sp>
        <p:nvSpPr>
          <p:cNvPr id="5" name="Contatos"/>
          <p:cNvSpPr txBox="1"/>
          <p:nvPr/>
        </p:nvSpPr>
        <p:spPr>
          <a:xfrm>
            <a:off x="3132667" y="4165600"/>
            <a:ext cx="5926667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700" dirty="0">
                <a:solidFill>
                  <a:schemeClr val="tx1"/>
                </a:solidFill>
              </a:rPr>
              <a:t>alice.campos@aedb.br</a:t>
            </a:r>
            <a:endParaRPr lang="en-US" sz="2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2700" dirty="0">
                <a:solidFill>
                  <a:schemeClr val="tx1"/>
                </a:solidFill>
              </a:rPr>
              <a:t>gabriel.santos2@aedb.br</a:t>
            </a:r>
            <a:endParaRPr lang="en-US" sz="2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2700" dirty="0">
                <a:solidFill>
                  <a:schemeClr val="tx1"/>
                </a:solidFill>
              </a:rPr>
              <a:t>lucas.santos1@aedb.br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16768" y="6366933"/>
            <a:ext cx="9144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age Barber">
  <a:themeElements>
    <a:clrScheme name="Visage Barber">
      <a:dk1>
        <a:srgbClr val="000000"/>
      </a:dk1>
      <a:lt1>
        <a:srgbClr val="FFFFFF"/>
      </a:lt1>
      <a:dk2>
        <a:srgbClr val="756D64"/>
      </a:dk2>
      <a:lt2>
        <a:srgbClr val="F3F1EE"/>
      </a:lt2>
      <a:accent1>
        <a:srgbClr val="756D64"/>
      </a:accent1>
      <a:accent2>
        <a:srgbClr val="4CAF50"/>
      </a:accent2>
      <a:accent3>
        <a:srgbClr val="E53935"/>
      </a:accent3>
      <a:accent4>
        <a:srgbClr val="F2A100"/>
      </a:accent4>
      <a:accent5>
        <a:srgbClr val="3ECF8E"/>
      </a:accent5>
      <a:accent6>
        <a:srgbClr val="61DAFB"/>
      </a:accent6>
      <a:hlink>
        <a:srgbClr val="756D64"/>
      </a:hlink>
      <a:folHlink>
        <a:srgbClr val="756D64"/>
      </a:folHlink>
    </a:clrScheme>
    <a:fontScheme name="Visage Barb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- Visage Barber - 3º Seminário</dc:title>
  <dc:subject>PptxGenJS Presentation</dc:subject>
  <dc:creator>Alice Campos, Gabriel Alves, Lucas Alves</dc:creator>
  <cp:lastModifiedBy>Alice Campos, Gabriel Alves, Lucas Alves</cp:lastModifiedBy>
  <cp:revision>1</cp:revision>
  <dcterms:created xsi:type="dcterms:W3CDTF">2026-10-02T18:46:42Z</dcterms:created>
  <dcterms:modified xsi:type="dcterms:W3CDTF">2026-10-02T18:46:42Z</dcterms:modified>
</cp:coreProperties>
</file>