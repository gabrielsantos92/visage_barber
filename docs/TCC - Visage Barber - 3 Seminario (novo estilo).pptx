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ED0463B-2E90-D35C-A841-87E000F18D5C}">
          <p14:sldIdLst>
            <p14:sldId id="256"/>
            <p14:sldId id="257"/>
          </p14:sldIdLst>
        </p14:section>
        <p14:section name="Projeto" id="{297F334B-E6D9-B9C0-32D3-B4CE76935615}">
          <p14:sldIdLst>
            <p14:sldId id="258"/>
            <p14:sldId id="259"/>
            <p14:sldId id="260"/>
            <p14:sldId id="261"/>
          </p14:sldIdLst>
        </p14:section>
        <p14:section name="Desenvolvimento" id="{E88574B2-0125-F32D-C02A-564A34B6A07A}">
          <p14:sldIdLst>
            <p14:sldId id="262"/>
            <p14:sldId id="263"/>
            <p14:sldId id="264"/>
          </p14:sldIdLst>
        </p14:section>
        <p14:section name="Encerramento" id="{E5A51DC5-7B28-7203-0EBD-B0F4EAAA2F8F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Alves Santos" userId="256ddcba558c28eb" providerId="LiveId" clId="{CD408EE0-FF6C-437E-BA64-1B37F214085E}"/>
    <pc:docChg chg="custSel modSld">
      <pc:chgData name="Lucas Alves Santos" userId="256ddcba558c28eb" providerId="LiveId" clId="{CD408EE0-FF6C-437E-BA64-1B37F214085E}" dt="2026-10-02T19:22:50.040" v="104" actId="207"/>
      <pc:docMkLst>
        <pc:docMk/>
      </pc:docMkLst>
      <pc:sldChg chg="addSp delSp modSp mod">
        <pc:chgData name="Lucas Alves Santos" userId="256ddcba558c28eb" providerId="LiveId" clId="{CD408EE0-FF6C-437E-BA64-1B37F214085E}" dt="2026-10-02T19:22:29.856" v="102" actId="20577"/>
        <pc:sldMkLst>
          <pc:docMk/>
          <pc:sldMk cId="0" sldId="256"/>
        </pc:sldMkLst>
        <pc:spChg chg="mod">
          <ac:chgData name="Lucas Alves Santos" userId="256ddcba558c28eb" providerId="LiveId" clId="{CD408EE0-FF6C-437E-BA64-1B37F214085E}" dt="2026-10-02T19:22:29.856" v="102" actId="20577"/>
          <ac:spMkLst>
            <pc:docMk/>
            <pc:sldMk cId="0" sldId="256"/>
            <ac:spMk id="2" creationId="{00000000-0000-0000-0000-000000000000}"/>
          </ac:spMkLst>
        </pc:spChg>
        <pc:spChg chg="del">
          <ac:chgData name="Lucas Alves Santos" userId="256ddcba558c28eb" providerId="LiveId" clId="{CD408EE0-FF6C-437E-BA64-1B37F214085E}" dt="2026-10-02T19:21:47.004" v="58" actId="478"/>
          <ac:spMkLst>
            <pc:docMk/>
            <pc:sldMk cId="0" sldId="256"/>
            <ac:spMk id="6" creationId="{00000000-0000-0000-0000-000000000000}"/>
          </ac:spMkLst>
        </pc:spChg>
        <pc:picChg chg="del">
          <ac:chgData name="Lucas Alves Santos" userId="256ddcba558c28eb" providerId="LiveId" clId="{CD408EE0-FF6C-437E-BA64-1B37F214085E}" dt="2026-10-02T19:08:29.725" v="0" actId="478"/>
          <ac:picMkLst>
            <pc:docMk/>
            <pc:sldMk cId="0" sldId="256"/>
            <ac:picMk id="7" creationId="{00000000-0000-0000-0000-000000000000}"/>
          </ac:picMkLst>
        </pc:picChg>
        <pc:picChg chg="add mod">
          <ac:chgData name="Lucas Alves Santos" userId="256ddcba558c28eb" providerId="LiveId" clId="{CD408EE0-FF6C-437E-BA64-1B37F214085E}" dt="2026-10-02T19:21:40.895" v="57" actId="1076"/>
          <ac:picMkLst>
            <pc:docMk/>
            <pc:sldMk cId="0" sldId="256"/>
            <ac:picMk id="9" creationId="{786B86FF-4CEE-86F0-72BC-494803C382B6}"/>
          </ac:picMkLst>
        </pc:picChg>
      </pc:sldChg>
      <pc:sldChg chg="modSp mod">
        <pc:chgData name="Lucas Alves Santos" userId="256ddcba558c28eb" providerId="LiveId" clId="{CD408EE0-FF6C-437E-BA64-1B37F214085E}" dt="2026-10-02T19:22:50.040" v="104" actId="207"/>
        <pc:sldMkLst>
          <pc:docMk/>
          <pc:sldMk cId="0" sldId="258"/>
        </pc:sldMkLst>
        <pc:spChg chg="mod">
          <ac:chgData name="Lucas Alves Santos" userId="256ddcba558c28eb" providerId="LiveId" clId="{CD408EE0-FF6C-437E-BA64-1B37F214085E}" dt="2026-10-02T19:22:50.040" v="104" actId="20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Lucas Alves Santos" userId="256ddcba558c28eb" providerId="LiveId" clId="{CD408EE0-FF6C-437E-BA64-1B37F214085E}" dt="2026-10-02T19:22:46.666" v="103" actId="207"/>
          <ac:spMkLst>
            <pc:docMk/>
            <pc:sldMk cId="0" sldId="258"/>
            <ac:spMk id="19" creationId="{00000000-0000-0000-0000-000000000000}"/>
          </ac:spMkLst>
        </pc:spChg>
      </pc:sldChg>
      <pc:sldChg chg="modSp mod">
        <pc:chgData name="Lucas Alves Santos" userId="256ddcba558c28eb" providerId="LiveId" clId="{CD408EE0-FF6C-437E-BA64-1B37F214085E}" dt="2026-10-02T19:13:37.169" v="16" actId="207"/>
        <pc:sldMkLst>
          <pc:docMk/>
          <pc:sldMk cId="0" sldId="259"/>
        </pc:sldMkLst>
        <pc:spChg chg="mod">
          <ac:chgData name="Lucas Alves Santos" userId="256ddcba558c28eb" providerId="LiveId" clId="{CD408EE0-FF6C-437E-BA64-1B37F214085E}" dt="2026-10-02T19:13:27.116" v="14" actId="207"/>
          <ac:spMkLst>
            <pc:docMk/>
            <pc:sldMk cId="0" sldId="259"/>
            <ac:spMk id="6" creationId="{00000000-0000-0000-0000-000000000000}"/>
          </ac:spMkLst>
        </pc:spChg>
        <pc:spChg chg="mod">
          <ac:chgData name="Lucas Alves Santos" userId="256ddcba558c28eb" providerId="LiveId" clId="{CD408EE0-FF6C-437E-BA64-1B37F214085E}" dt="2026-10-02T19:13:30.853" v="15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Lucas Alves Santos" userId="256ddcba558c28eb" providerId="LiveId" clId="{CD408EE0-FF6C-437E-BA64-1B37F214085E}" dt="2026-10-02T19:13:37.169" v="16" actId="207"/>
          <ac:spMkLst>
            <pc:docMk/>
            <pc:sldMk cId="0" sldId="259"/>
            <ac:spMk id="16" creationId="{00000000-0000-0000-0000-000000000000}"/>
          </ac:spMkLst>
        </pc:spChg>
      </pc:sldChg>
      <pc:sldChg chg="addSp delSp modSp mod">
        <pc:chgData name="Lucas Alves Santos" userId="256ddcba558c28eb" providerId="LiveId" clId="{CD408EE0-FF6C-437E-BA64-1B37F214085E}" dt="2026-10-02T19:21:20.431" v="54" actId="1076"/>
        <pc:sldMkLst>
          <pc:docMk/>
          <pc:sldMk cId="0" sldId="265"/>
        </pc:sldMkLst>
        <pc:spChg chg="del">
          <ac:chgData name="Lucas Alves Santos" userId="256ddcba558c28eb" providerId="LiveId" clId="{CD408EE0-FF6C-437E-BA64-1B37F214085E}" dt="2026-10-02T19:15:00.552" v="17" actId="478"/>
          <ac:spMkLst>
            <pc:docMk/>
            <pc:sldMk cId="0" sldId="265"/>
            <ac:spMk id="2" creationId="{00000000-0000-0000-0000-000000000000}"/>
          </ac:spMkLst>
        </pc:spChg>
        <pc:spChg chg="mod">
          <ac:chgData name="Lucas Alves Santos" userId="256ddcba558c28eb" providerId="LiveId" clId="{CD408EE0-FF6C-437E-BA64-1B37F214085E}" dt="2026-10-02T19:21:13.440" v="52" actId="1076"/>
          <ac:spMkLst>
            <pc:docMk/>
            <pc:sldMk cId="0" sldId="265"/>
            <ac:spMk id="3" creationId="{00000000-0000-0000-0000-000000000000}"/>
          </ac:spMkLst>
        </pc:spChg>
        <pc:spChg chg="del">
          <ac:chgData name="Lucas Alves Santos" userId="256ddcba558c28eb" providerId="LiveId" clId="{CD408EE0-FF6C-437E-BA64-1B37F214085E}" dt="2026-10-02T19:15:21.836" v="40" actId="478"/>
          <ac:spMkLst>
            <pc:docMk/>
            <pc:sldMk cId="0" sldId="265"/>
            <ac:spMk id="4" creationId="{00000000-0000-0000-0000-000000000000}"/>
          </ac:spMkLst>
        </pc:spChg>
        <pc:spChg chg="add del mod">
          <ac:chgData name="Lucas Alves Santos" userId="256ddcba558c28eb" providerId="LiveId" clId="{CD408EE0-FF6C-437E-BA64-1B37F214085E}" dt="2026-10-02T19:15:02.842" v="18" actId="478"/>
          <ac:spMkLst>
            <pc:docMk/>
            <pc:sldMk cId="0" sldId="265"/>
            <ac:spMk id="7" creationId="{E94EF812-F1F0-7664-981D-9A330EBF462C}"/>
          </ac:spMkLst>
        </pc:spChg>
        <pc:picChg chg="del">
          <ac:chgData name="Lucas Alves Santos" userId="256ddcba558c28eb" providerId="LiveId" clId="{CD408EE0-FF6C-437E-BA64-1B37F214085E}" dt="2026-10-02T19:12:04.303" v="13" actId="478"/>
          <ac:picMkLst>
            <pc:docMk/>
            <pc:sldMk cId="0" sldId="265"/>
            <ac:picMk id="5" creationId="{00000000-0000-0000-0000-000000000000}"/>
          </ac:picMkLst>
        </pc:picChg>
        <pc:picChg chg="add del mod">
          <ac:chgData name="Lucas Alves Santos" userId="256ddcba558c28eb" providerId="LiveId" clId="{CD408EE0-FF6C-437E-BA64-1B37F214085E}" dt="2026-10-02T19:16:46.678" v="46" actId="478"/>
          <ac:picMkLst>
            <pc:docMk/>
            <pc:sldMk cId="0" sldId="265"/>
            <ac:picMk id="9" creationId="{F003B274-DEB9-93CC-60BC-01802DAAB404}"/>
          </ac:picMkLst>
        </pc:picChg>
        <pc:picChg chg="add mod">
          <ac:chgData name="Lucas Alves Santos" userId="256ddcba558c28eb" providerId="LiveId" clId="{CD408EE0-FF6C-437E-BA64-1B37F214085E}" dt="2026-10-02T19:21:20.431" v="54" actId="1076"/>
          <ac:picMkLst>
            <pc:docMk/>
            <pc:sldMk cId="0" sldId="265"/>
            <ac:picMk id="11" creationId="{C1585B68-10C0-6946-AC1C-C50D722949C1}"/>
          </ac:picMkLst>
        </pc:picChg>
      </pc:sldChg>
      <pc:sldChg chg="delSp modSp mod">
        <pc:chgData name="Lucas Alves Santos" userId="256ddcba558c28eb" providerId="LiveId" clId="{CD408EE0-FF6C-437E-BA64-1B37F214085E}" dt="2026-10-02T19:15:28.481" v="41" actId="478"/>
        <pc:sldMkLst>
          <pc:docMk/>
          <pc:sldMk cId="0" sldId="266"/>
        </pc:sldMkLst>
        <pc:spChg chg="mod">
          <ac:chgData name="Lucas Alves Santos" userId="256ddcba558c28eb" providerId="LiveId" clId="{CD408EE0-FF6C-437E-BA64-1B37F214085E}" dt="2026-10-02T19:11:53.617" v="6" actId="2057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Lucas Alves Santos" userId="256ddcba558c28eb" providerId="LiveId" clId="{CD408EE0-FF6C-437E-BA64-1B37F214085E}" dt="2026-10-02T19:11:57.402" v="12" actId="20577"/>
          <ac:spMkLst>
            <pc:docMk/>
            <pc:sldMk cId="0" sldId="266"/>
            <ac:spMk id="15" creationId="{00000000-0000-0000-0000-000000000000}"/>
          </ac:spMkLst>
        </pc:spChg>
        <pc:picChg chg="del">
          <ac:chgData name="Lucas Alves Santos" userId="256ddcba558c28eb" providerId="LiveId" clId="{CD408EE0-FF6C-437E-BA64-1B37F214085E}" dt="2026-10-02T19:15:28.481" v="41" actId="478"/>
          <ac:picMkLst>
            <pc:docMk/>
            <pc:sldMk cId="0" sldId="266"/>
            <ac:picMk id="1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313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3º Seminário do TCC. Desde o 1º seminário: aplicativo mobile (React Native + Expo), visagismo por foto com IA, chat cliente-barbeiro e avaliações.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Novidade: além da versão web, o sistema agora tem aplicativo mobile, e o visagismo passou a analisar a foto do cliente com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Mudanças desde o 1º seminário: aplicativo mobile em React Native + Expo, API em Express e análise facial pelo Google Gemini (modelo gemini-2.5-flash).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1º seminário eram 16 requisitos concluídos; agora são 22 de 27. Em desenvolvimento: RF19 (falta a imagem no catálogo), RF21 (filtros por data/barbeiro), RF23 (ativar/desativar cortes), RF26 (perfil completo do cliente para o admin) e RF27 (push depende de build de desenvolvimento, não funciona no Expo Go).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1005840" y="1097280"/>
            <a:ext cx="69494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4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1005840" y="1417320"/>
            <a:ext cx="713232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6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66928" y="365760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b="1" kern="0" spc="4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603504"/>
            <a:ext cx="1105509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Shape 0"/>
          <p:cNvSpPr/>
          <p:nvPr/>
        </p:nvSpPr>
        <p:spPr>
          <a:xfrm>
            <a:off x="566928" y="1243584"/>
            <a:ext cx="11055096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8412480" y="63550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VISAGE BARBER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1320272" y="6355080"/>
            <a:ext cx="301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/11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355080"/>
            <a:ext cx="329184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1005840" y="2103120"/>
            <a:ext cx="69494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4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1005840" y="2423160"/>
            <a:ext cx="694944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7200" dirty="0"/>
          </a:p>
        </p:txBody>
      </p:sp>
      <p:sp>
        <p:nvSpPr>
          <p:cNvPr id="5" name="Text 1"/>
          <p:cNvSpPr/>
          <p:nvPr/>
        </p:nvSpPr>
        <p:spPr>
          <a:xfrm>
            <a:off x="8412480" y="63550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VISAGE BARBER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1320272" y="6355080"/>
            <a:ext cx="301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/11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355080"/>
            <a:ext cx="329184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355080"/>
            <a:ext cx="329184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1005840" y="10972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3º SEMINÁRIO · TCC ENGENHARIA DE SOFTWARE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1005840" y="1417320"/>
            <a:ext cx="7132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dirty="0">
                <a:solidFill>
                  <a:schemeClr val="tx1"/>
                </a:solidFill>
              </a:rPr>
              <a:t>VISAGE BARBER</a:t>
            </a:r>
            <a:endParaRPr lang="en-US" sz="6600" dirty="0"/>
          </a:p>
        </p:txBody>
      </p:sp>
      <p:sp>
        <p:nvSpPr>
          <p:cNvPr id="4" name="Subtítulo"/>
          <p:cNvSpPr txBox="1"/>
          <p:nvPr/>
        </p:nvSpPr>
        <p:spPr>
          <a:xfrm>
            <a:off x="1033272" y="26974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chemeClr val="tx2"/>
                </a:solidFill>
              </a:rPr>
              <a:t>Plataforma de agendamento para barbearias com visagismo assistido por IA</a:t>
            </a:r>
            <a:endParaRPr lang="en-US" sz="2200" dirty="0"/>
          </a:p>
        </p:txBody>
      </p:sp>
      <p:sp>
        <p:nvSpPr>
          <p:cNvPr id="5" name="Integrantes"/>
          <p:cNvSpPr txBox="1"/>
          <p:nvPr/>
        </p:nvSpPr>
        <p:spPr>
          <a:xfrm>
            <a:off x="1005840" y="45262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800" dirty="0">
                <a:solidFill>
                  <a:schemeClr val="tx1"/>
                </a:solidFill>
              </a:rPr>
              <a:t>Alice Campos</a:t>
            </a:r>
            <a:endParaRPr lang="en-US" sz="1800" dirty="0"/>
          </a:p>
          <a:p>
            <a:pPr marL="342900" indent="-342900">
              <a:buSzPct val="100000"/>
              <a:buChar char="▪"/>
            </a:pPr>
            <a:r>
              <a:rPr lang="en-US" sz="1800" dirty="0">
                <a:solidFill>
                  <a:schemeClr val="tx1"/>
                </a:solidFill>
              </a:rPr>
              <a:t>Gabriel Alves Santos</a:t>
            </a:r>
            <a:endParaRPr lang="en-US" sz="1800" dirty="0"/>
          </a:p>
          <a:p>
            <a:pPr marL="342900" indent="-342900">
              <a:buSzPct val="100000"/>
              <a:buChar char="▪"/>
            </a:pPr>
            <a:r>
              <a:rPr lang="en-US" sz="1800" dirty="0">
                <a:solidFill>
                  <a:schemeClr val="tx1"/>
                </a:solidFill>
              </a:rPr>
              <a:t>Lucas Alves Santos</a:t>
            </a:r>
            <a:endParaRPr lang="en-US" sz="18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86B86FF-4CEE-86F0-72BC-494803C38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202" y="1234440"/>
            <a:ext cx="3961606" cy="50953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66928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60350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</a:rPr>
              <a:t>Quem desenvolve o projeto</a:t>
            </a:r>
            <a:endParaRPr lang="en-US" sz="3000" dirty="0"/>
          </a:p>
        </p:txBody>
      </p:sp>
      <p:sp>
        <p:nvSpPr>
          <p:cNvPr id="4" name="Cartão Alice Campos"/>
          <p:cNvSpPr/>
          <p:nvPr/>
        </p:nvSpPr>
        <p:spPr>
          <a:xfrm>
            <a:off x="566928" y="1691640"/>
            <a:ext cx="2560320" cy="37490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Cartão Alice Campos faixa"/>
          <p:cNvSpPr/>
          <p:nvPr/>
        </p:nvSpPr>
        <p:spPr>
          <a:xfrm>
            <a:off x="566928" y="1691640"/>
            <a:ext cx="54864" cy="3749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Foto Alice Campos" descr="Foto de Alice Camp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103120"/>
            <a:ext cx="1737360" cy="1737360"/>
          </a:xfrm>
          <a:prstGeom prst="ellipse">
            <a:avLst/>
          </a:prstGeom>
        </p:spPr>
      </p:pic>
      <p:sp>
        <p:nvSpPr>
          <p:cNvPr id="7" name="Alice Campos"/>
          <p:cNvSpPr txBox="1"/>
          <p:nvPr/>
        </p:nvSpPr>
        <p:spPr>
          <a:xfrm>
            <a:off x="749808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Alice Campos</a:t>
            </a:r>
            <a:endParaRPr lang="en-US" sz="2000" dirty="0"/>
          </a:p>
        </p:txBody>
      </p:sp>
      <p:sp>
        <p:nvSpPr>
          <p:cNvPr id="8" name="Papel Alice Campos"/>
          <p:cNvSpPr txBox="1"/>
          <p:nvPr/>
        </p:nvSpPr>
        <p:spPr>
          <a:xfrm>
            <a:off x="749808" y="4572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DOCUMENTAÇÃO E FRONT-END</a:t>
            </a:r>
            <a:endParaRPr lang="en-US" sz="900" dirty="0"/>
          </a:p>
        </p:txBody>
      </p:sp>
      <p:sp>
        <p:nvSpPr>
          <p:cNvPr id="9" name="Cartão Gabriel Alves"/>
          <p:cNvSpPr/>
          <p:nvPr/>
        </p:nvSpPr>
        <p:spPr>
          <a:xfrm>
            <a:off x="3401568" y="1691640"/>
            <a:ext cx="2560320" cy="37490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Cartão Gabriel Alves faixa"/>
          <p:cNvSpPr/>
          <p:nvPr/>
        </p:nvSpPr>
        <p:spPr>
          <a:xfrm>
            <a:off x="3401568" y="1691640"/>
            <a:ext cx="54864" cy="3749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Foto Gabriel Alves" descr="Foto de Gabriel Alv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048" y="2103120"/>
            <a:ext cx="1737360" cy="1737360"/>
          </a:xfrm>
          <a:prstGeom prst="ellipse">
            <a:avLst/>
          </a:prstGeom>
        </p:spPr>
      </p:pic>
      <p:sp>
        <p:nvSpPr>
          <p:cNvPr id="12" name="Gabriel Alves"/>
          <p:cNvSpPr txBox="1"/>
          <p:nvPr/>
        </p:nvSpPr>
        <p:spPr>
          <a:xfrm>
            <a:off x="3584448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Gabriel Alves</a:t>
            </a:r>
            <a:endParaRPr lang="en-US" sz="2000" dirty="0"/>
          </a:p>
        </p:txBody>
      </p:sp>
      <p:sp>
        <p:nvSpPr>
          <p:cNvPr id="13" name="Papel Gabriel Alves"/>
          <p:cNvSpPr txBox="1"/>
          <p:nvPr/>
        </p:nvSpPr>
        <p:spPr>
          <a:xfrm>
            <a:off x="3584448" y="4572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FULL-STACK</a:t>
            </a:r>
            <a:endParaRPr lang="en-US" sz="900" dirty="0"/>
          </a:p>
        </p:txBody>
      </p:sp>
      <p:sp>
        <p:nvSpPr>
          <p:cNvPr id="14" name="Cartão Lucas Alves"/>
          <p:cNvSpPr/>
          <p:nvPr/>
        </p:nvSpPr>
        <p:spPr>
          <a:xfrm>
            <a:off x="6236208" y="1691640"/>
            <a:ext cx="2560320" cy="37490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Cartão Lucas Alves faixa"/>
          <p:cNvSpPr/>
          <p:nvPr/>
        </p:nvSpPr>
        <p:spPr>
          <a:xfrm>
            <a:off x="6236208" y="1691640"/>
            <a:ext cx="54864" cy="3749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Foto Lucas Alves" descr="Foto de Lucas Alv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103120"/>
            <a:ext cx="1737360" cy="1737360"/>
          </a:xfrm>
          <a:prstGeom prst="ellipse">
            <a:avLst/>
          </a:prstGeom>
        </p:spPr>
      </p:pic>
      <p:sp>
        <p:nvSpPr>
          <p:cNvPr id="17" name="Lucas Alves"/>
          <p:cNvSpPr txBox="1"/>
          <p:nvPr/>
        </p:nvSpPr>
        <p:spPr>
          <a:xfrm>
            <a:off x="6419088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Lucas Alves</a:t>
            </a:r>
            <a:endParaRPr lang="en-US" sz="2000" dirty="0"/>
          </a:p>
        </p:txBody>
      </p:sp>
      <p:sp>
        <p:nvSpPr>
          <p:cNvPr id="18" name="Papel Lucas Alves"/>
          <p:cNvSpPr txBox="1"/>
          <p:nvPr/>
        </p:nvSpPr>
        <p:spPr>
          <a:xfrm>
            <a:off x="6419088" y="4572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FULL-STACK</a:t>
            </a:r>
            <a:endParaRPr lang="en-US" sz="900" dirty="0"/>
          </a:p>
        </p:txBody>
      </p:sp>
      <p:sp>
        <p:nvSpPr>
          <p:cNvPr id="19" name="Cartão Mônica Mara"/>
          <p:cNvSpPr/>
          <p:nvPr/>
        </p:nvSpPr>
        <p:spPr>
          <a:xfrm>
            <a:off x="9070848" y="1691640"/>
            <a:ext cx="2560320" cy="37490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Cartão Mônica Mara faixa"/>
          <p:cNvSpPr/>
          <p:nvPr/>
        </p:nvSpPr>
        <p:spPr>
          <a:xfrm>
            <a:off x="9070848" y="1691640"/>
            <a:ext cx="54864" cy="3749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Foto Mônica Mara" descr="Foto de Mônica Mar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2328" y="2103120"/>
            <a:ext cx="1737360" cy="1737360"/>
          </a:xfrm>
          <a:prstGeom prst="ellipse">
            <a:avLst/>
          </a:prstGeom>
        </p:spPr>
      </p:pic>
      <p:sp>
        <p:nvSpPr>
          <p:cNvPr id="22" name="Mônica Mara"/>
          <p:cNvSpPr txBox="1"/>
          <p:nvPr/>
        </p:nvSpPr>
        <p:spPr>
          <a:xfrm>
            <a:off x="9253728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Mônica Mara</a:t>
            </a:r>
            <a:endParaRPr lang="en-US" sz="2000" dirty="0"/>
          </a:p>
        </p:txBody>
      </p:sp>
      <p:sp>
        <p:nvSpPr>
          <p:cNvPr id="23" name="Papel Mônica Mara"/>
          <p:cNvSpPr txBox="1"/>
          <p:nvPr/>
        </p:nvSpPr>
        <p:spPr>
          <a:xfrm>
            <a:off x="9253728" y="4572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ORIENTADORA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355080"/>
            <a:ext cx="329184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66928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60350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</a:rPr>
              <a:t>O que é o Visage Barber?</a:t>
            </a:r>
            <a:endParaRPr lang="en-US" sz="3000" dirty="0"/>
          </a:p>
        </p:txBody>
      </p:sp>
      <p:sp>
        <p:nvSpPr>
          <p:cNvPr id="4" name="Descrição"/>
          <p:cNvSpPr txBox="1"/>
          <p:nvPr/>
        </p:nvSpPr>
        <p:spPr>
          <a:xfrm>
            <a:off x="566928" y="16916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solidFill>
                  <a:schemeClr val="tx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Uma plataforma </a:t>
            </a:r>
            <a:r>
              <a:rPr lang="en-US" sz="2200" b="1" dirty="0">
                <a:solidFill>
                  <a:schemeClr val="tx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web e mobile</a:t>
            </a:r>
            <a:r>
              <a:rPr lang="en-US" sz="2200" dirty="0">
                <a:solidFill>
                  <a:schemeClr val="tx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 que conecta clientes e barbearias e une, em um só lugar, o agendamento online e a recomendação de cortes por visagismo.</a:t>
            </a:r>
            <a:endParaRPr lang="en-US" sz="2200" dirty="0"/>
          </a:p>
        </p:txBody>
      </p:sp>
      <p:sp>
        <p:nvSpPr>
          <p:cNvPr id="5" name="Rótulo perfis"/>
          <p:cNvSpPr txBox="1"/>
          <p:nvPr/>
        </p:nvSpPr>
        <p:spPr>
          <a:xfrm>
            <a:off x="566928" y="4434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PERFIS DE ACESSO</a:t>
            </a:r>
            <a:endParaRPr lang="en-US" sz="1000" dirty="0"/>
          </a:p>
        </p:txBody>
      </p:sp>
      <p:sp>
        <p:nvSpPr>
          <p:cNvPr id="6" name="Perfil CLIENTE"/>
          <p:cNvSpPr/>
          <p:nvPr/>
        </p:nvSpPr>
        <p:spPr>
          <a:xfrm>
            <a:off x="566928" y="4773168"/>
            <a:ext cx="123444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Perfil CLIENTE texto"/>
          <p:cNvSpPr txBox="1"/>
          <p:nvPr/>
        </p:nvSpPr>
        <p:spPr>
          <a:xfrm>
            <a:off x="566928" y="47731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endParaRPr lang="en-US" sz="900" dirty="0"/>
          </a:p>
        </p:txBody>
      </p:sp>
      <p:sp>
        <p:nvSpPr>
          <p:cNvPr id="8" name="Perfil BARBEIRO"/>
          <p:cNvSpPr/>
          <p:nvPr/>
        </p:nvSpPr>
        <p:spPr>
          <a:xfrm>
            <a:off x="1938528" y="4773168"/>
            <a:ext cx="132588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Perfil BARBEIRO texto"/>
          <p:cNvSpPr txBox="1"/>
          <p:nvPr/>
        </p:nvSpPr>
        <p:spPr>
          <a:xfrm>
            <a:off x="1938528" y="47731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BARBEIRO</a:t>
            </a:r>
            <a:endParaRPr lang="en-US" sz="900" dirty="0"/>
          </a:p>
        </p:txBody>
      </p:sp>
      <p:sp>
        <p:nvSpPr>
          <p:cNvPr id="10" name="Perfil ADMINISTRADOR"/>
          <p:cNvSpPr/>
          <p:nvPr/>
        </p:nvSpPr>
        <p:spPr>
          <a:xfrm>
            <a:off x="3401568" y="4773168"/>
            <a:ext cx="182880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Perfil ADMINISTRADOR texto"/>
          <p:cNvSpPr txBox="1"/>
          <p:nvPr/>
        </p:nvSpPr>
        <p:spPr>
          <a:xfrm>
            <a:off x="3401568" y="4773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ADMINISTRADOR</a:t>
            </a:r>
            <a:endParaRPr lang="en-US" sz="900" dirty="0"/>
          </a:p>
        </p:txBody>
      </p:sp>
      <p:sp>
        <p:nvSpPr>
          <p:cNvPr id="12" name="Cartão AGENDAMENTO ONLINE"/>
          <p:cNvSpPr/>
          <p:nvPr/>
        </p:nvSpPr>
        <p:spPr>
          <a:xfrm>
            <a:off x="6263640" y="1691640"/>
            <a:ext cx="5358384" cy="1764792"/>
          </a:xfrm>
          <a:prstGeom prst="roundRect">
            <a:avLst>
              <a:gd name="adj" fmla="val 4145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Cartão AGENDAMENTO ONLINE faixa"/>
          <p:cNvSpPr/>
          <p:nvPr/>
        </p:nvSpPr>
        <p:spPr>
          <a:xfrm>
            <a:off x="6263640" y="1691640"/>
            <a:ext cx="54864" cy="17647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Número 01"/>
          <p:cNvSpPr txBox="1"/>
          <p:nvPr/>
        </p:nvSpPr>
        <p:spPr>
          <a:xfrm>
            <a:off x="6556248" y="18928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AGENDAMENTO ONLINE"/>
          <p:cNvSpPr txBox="1"/>
          <p:nvPr/>
        </p:nvSpPr>
        <p:spPr>
          <a:xfrm>
            <a:off x="6556248" y="2295144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AGENDAMENTO ONLINE</a:t>
            </a:r>
            <a:endParaRPr lang="en-US" sz="1100" dirty="0"/>
          </a:p>
        </p:txBody>
      </p:sp>
      <p:sp>
        <p:nvSpPr>
          <p:cNvPr id="16" name="Descrição AGENDAMENTO ONLINE"/>
          <p:cNvSpPr txBox="1"/>
          <p:nvPr/>
        </p:nvSpPr>
        <p:spPr>
          <a:xfrm>
            <a:off x="6556248" y="2606040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 cliente escolhe serviço, barbeiro, data e horário em poucos passos, e o barbeiro acompanha a agenda organizada.</a:t>
            </a:r>
            <a:endParaRPr lang="en-US" sz="1300" dirty="0"/>
          </a:p>
        </p:txBody>
      </p:sp>
      <p:sp>
        <p:nvSpPr>
          <p:cNvPr id="17" name="Cartão VISAGISMO COM IA"/>
          <p:cNvSpPr/>
          <p:nvPr/>
        </p:nvSpPr>
        <p:spPr>
          <a:xfrm>
            <a:off x="6263640" y="3685032"/>
            <a:ext cx="5358384" cy="1764792"/>
          </a:xfrm>
          <a:prstGeom prst="roundRect">
            <a:avLst>
              <a:gd name="adj" fmla="val 4145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Cartão VISAGISMO COM IA faixa"/>
          <p:cNvSpPr/>
          <p:nvPr/>
        </p:nvSpPr>
        <p:spPr>
          <a:xfrm>
            <a:off x="6263640" y="3685032"/>
            <a:ext cx="54864" cy="17647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Número 02"/>
          <p:cNvSpPr txBox="1"/>
          <p:nvPr/>
        </p:nvSpPr>
        <p:spPr>
          <a:xfrm>
            <a:off x="6556248" y="38862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VISAGISMO COM IA"/>
          <p:cNvSpPr txBox="1"/>
          <p:nvPr/>
        </p:nvSpPr>
        <p:spPr>
          <a:xfrm>
            <a:off x="6556248" y="4288536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VISAGISMO COM IA</a:t>
            </a:r>
            <a:endParaRPr lang="en-US" sz="1100" dirty="0"/>
          </a:p>
        </p:txBody>
      </p:sp>
      <p:sp>
        <p:nvSpPr>
          <p:cNvPr id="21" name="Descrição VISAGISMO COM IA"/>
          <p:cNvSpPr txBox="1"/>
          <p:nvPr/>
        </p:nvSpPr>
        <p:spPr>
          <a:xfrm>
            <a:off x="6556248" y="4599432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Uma foto ou um quiz identifica o formato do rosto e gera a recomendação de corte e barba para o cliente.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355080"/>
            <a:ext cx="329184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66928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PROBLEMA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60350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</a:rPr>
              <a:t>O que acontece hoje nas barbearias</a:t>
            </a:r>
            <a:endParaRPr lang="en-US" sz="3000" dirty="0"/>
          </a:p>
        </p:txBody>
      </p:sp>
      <p:sp>
        <p:nvSpPr>
          <p:cNvPr id="4" name="Cartão AGENDAMENTO INFORMAL"/>
          <p:cNvSpPr/>
          <p:nvPr/>
        </p:nvSpPr>
        <p:spPr>
          <a:xfrm>
            <a:off x="566928" y="1691640"/>
            <a:ext cx="3502152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Cartão AGENDAMENTO INFORMAL faixa"/>
          <p:cNvSpPr/>
          <p:nvPr/>
        </p:nvSpPr>
        <p:spPr>
          <a:xfrm>
            <a:off x="566928" y="1691640"/>
            <a:ext cx="54864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Número 01"/>
          <p:cNvSpPr txBox="1"/>
          <p:nvPr/>
        </p:nvSpPr>
        <p:spPr>
          <a:xfrm>
            <a:off x="859536" y="19202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AGENDAMENTO INFORMAL"/>
          <p:cNvSpPr txBox="1"/>
          <p:nvPr/>
        </p:nvSpPr>
        <p:spPr>
          <a:xfrm>
            <a:off x="859536" y="235000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AGENDAMENTO INFORMAL</a:t>
            </a:r>
            <a:endParaRPr lang="en-US" sz="1100" dirty="0"/>
          </a:p>
        </p:txBody>
      </p:sp>
      <p:sp>
        <p:nvSpPr>
          <p:cNvPr id="8" name="Descrição AGENDAMENTO INFORMAL"/>
          <p:cNvSpPr txBox="1"/>
          <p:nvPr/>
        </p:nvSpPr>
        <p:spPr>
          <a:xfrm>
            <a:off x="859536" y="269748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Horários marcados por mensagem ou ligação, sem um registro centralizado.</a:t>
            </a:r>
            <a:endParaRPr lang="en-US" sz="1300" dirty="0"/>
          </a:p>
        </p:txBody>
      </p:sp>
      <p:sp>
        <p:nvSpPr>
          <p:cNvPr id="9" name="Cartão DESORGANIZAÇÃO DA AGENDA"/>
          <p:cNvSpPr/>
          <p:nvPr/>
        </p:nvSpPr>
        <p:spPr>
          <a:xfrm>
            <a:off x="4343400" y="1691640"/>
            <a:ext cx="3502152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Cartão DESORGANIZAÇÃO DA AGENDA faixa"/>
          <p:cNvSpPr/>
          <p:nvPr/>
        </p:nvSpPr>
        <p:spPr>
          <a:xfrm>
            <a:off x="4343400" y="1691640"/>
            <a:ext cx="54864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Número 02"/>
          <p:cNvSpPr txBox="1"/>
          <p:nvPr/>
        </p:nvSpPr>
        <p:spPr>
          <a:xfrm>
            <a:off x="4636008" y="19202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DESORGANIZAÇÃO DA AGENDA"/>
          <p:cNvSpPr txBox="1"/>
          <p:nvPr/>
        </p:nvSpPr>
        <p:spPr>
          <a:xfrm>
            <a:off x="4636008" y="235000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DESORGANIZAÇÃO DA AGENDA</a:t>
            </a:r>
            <a:endParaRPr lang="en-US" sz="1100" dirty="0"/>
          </a:p>
        </p:txBody>
      </p:sp>
      <p:sp>
        <p:nvSpPr>
          <p:cNvPr id="13" name="Descrição DESORGANIZAÇÃO DA AGENDA"/>
          <p:cNvSpPr txBox="1"/>
          <p:nvPr/>
        </p:nvSpPr>
        <p:spPr>
          <a:xfrm>
            <a:off x="4636008" y="269748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Conflitos de horário, esquecimentos e faltas difíceis de acompanhar.</a:t>
            </a:r>
            <a:endParaRPr lang="en-US" sz="1300" dirty="0"/>
          </a:p>
        </p:txBody>
      </p:sp>
      <p:sp>
        <p:nvSpPr>
          <p:cNvPr id="14" name="Cartão FALTA DE PERSONALIZAÇÃO"/>
          <p:cNvSpPr/>
          <p:nvPr/>
        </p:nvSpPr>
        <p:spPr>
          <a:xfrm>
            <a:off x="8119872" y="1691640"/>
            <a:ext cx="3502152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Cartão FALTA DE PERSONALIZAÇÃO faixa"/>
          <p:cNvSpPr/>
          <p:nvPr/>
        </p:nvSpPr>
        <p:spPr>
          <a:xfrm>
            <a:off x="8119872" y="1691640"/>
            <a:ext cx="54864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Número 03"/>
          <p:cNvSpPr txBox="1"/>
          <p:nvPr/>
        </p:nvSpPr>
        <p:spPr>
          <a:xfrm>
            <a:off x="8412480" y="19202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FALTA DE PERSONALIZAÇÃO"/>
          <p:cNvSpPr txBox="1"/>
          <p:nvPr/>
        </p:nvSpPr>
        <p:spPr>
          <a:xfrm>
            <a:off x="8412480" y="235000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FALTA DE PERSONALIZAÇÃO</a:t>
            </a:r>
            <a:endParaRPr lang="en-US" sz="1100" dirty="0"/>
          </a:p>
        </p:txBody>
      </p:sp>
      <p:sp>
        <p:nvSpPr>
          <p:cNvPr id="18" name="Descrição FALTA DE PERSONALIZAÇÃO"/>
          <p:cNvSpPr txBox="1"/>
          <p:nvPr/>
        </p:nvSpPr>
        <p:spPr>
          <a:xfrm>
            <a:off x="8412480" y="269748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 cliente escolhe o corte sem orientação sobre o que combina com o seu rosto.</a:t>
            </a:r>
            <a:endParaRPr lang="en-US" sz="1300" dirty="0"/>
          </a:p>
        </p:txBody>
      </p:sp>
      <p:sp>
        <p:nvSpPr>
          <p:cNvPr id="19" name="Estatística"/>
          <p:cNvSpPr txBox="1"/>
          <p:nvPr/>
        </p:nvSpPr>
        <p:spPr>
          <a:xfrm>
            <a:off x="566928" y="41605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dirty="0">
                <a:solidFill>
                  <a:schemeClr val="tx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74%</a:t>
            </a:r>
            <a:endParaRPr lang="en-US" sz="8000" dirty="0"/>
          </a:p>
        </p:txBody>
      </p:sp>
      <p:sp>
        <p:nvSpPr>
          <p:cNvPr id="20" name="Estatística descrição"/>
          <p:cNvSpPr txBox="1"/>
          <p:nvPr/>
        </p:nvSpPr>
        <p:spPr>
          <a:xfrm>
            <a:off x="3630168" y="4343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dos brasileiros preferem agendar serviços online.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355080"/>
            <a:ext cx="329184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66928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MERCADO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60350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</a:rPr>
              <a:t>Concorrentes e inspirações</a:t>
            </a:r>
            <a:endParaRPr lang="en-US" sz="3000" dirty="0"/>
          </a:p>
        </p:txBody>
      </p:sp>
      <p:graphicFrame>
        <p:nvGraphicFramePr>
          <p:cNvPr id="6" name="Tabela concorren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6858000" cy="36576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PLATAFORMA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0" marR="0" marT="0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AGENDAMENTO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0" marR="0" marT="0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VISAGISMO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0" marR="0" marT="0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AppBarber</a:t>
                      </a:r>
                      <a:endParaRPr lang="en-US" sz="1800" dirty="0"/>
                    </a:p>
                  </a:txBody>
                  <a:tcPr marL="182880" marR="0" marT="0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/>
                    </a:p>
                  </a:txBody>
                  <a:tcPr marL="182880" marR="0" marT="0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/>
                    </a:p>
                  </a:txBody>
                  <a:tcPr marL="182880" marR="0" marT="0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BestBarbers</a:t>
                      </a:r>
                      <a:endParaRPr lang="en-US" sz="1800" dirty="0"/>
                    </a:p>
                  </a:txBody>
                  <a:tcPr marL="182880" marR="0" marT="0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/>
                    </a:p>
                  </a:txBody>
                  <a:tcPr marL="182880" marR="0" marT="0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/>
                    </a:p>
                  </a:txBody>
                  <a:tcPr marL="182880" marR="0" marT="0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Visage Barber</a:t>
                      </a:r>
                      <a:endParaRPr lang="en-US" sz="1800" dirty="0"/>
                    </a:p>
                  </a:txBody>
                  <a:tcPr marL="182880" marR="0" marT="0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/>
                    </a:p>
                  </a:txBody>
                  <a:tcPr marL="182880" marR="0" marT="0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/>
                    </a:p>
                  </a:txBody>
                  <a:tcPr marL="182880" marR="0" marT="0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Sim" descr="Si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2697480"/>
            <a:ext cx="274320" cy="274320"/>
          </a:xfrm>
          <a:prstGeom prst="rect">
            <a:avLst/>
          </a:prstGeom>
        </p:spPr>
      </p:pic>
      <p:pic>
        <p:nvPicPr>
          <p:cNvPr id="4" name="Não" descr="Nã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2697480"/>
            <a:ext cx="274320" cy="274320"/>
          </a:xfrm>
          <a:prstGeom prst="rect">
            <a:avLst/>
          </a:prstGeom>
        </p:spPr>
      </p:pic>
      <p:pic>
        <p:nvPicPr>
          <p:cNvPr id="7" name="Sim" descr="Si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3703320"/>
            <a:ext cx="274320" cy="274320"/>
          </a:xfrm>
          <a:prstGeom prst="rect">
            <a:avLst/>
          </a:prstGeom>
        </p:spPr>
      </p:pic>
      <p:pic>
        <p:nvPicPr>
          <p:cNvPr id="8" name="Não" descr="Nã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3703320"/>
            <a:ext cx="274320" cy="274320"/>
          </a:xfrm>
          <a:prstGeom prst="rect">
            <a:avLst/>
          </a:prstGeom>
        </p:spPr>
      </p:pic>
      <p:pic>
        <p:nvPicPr>
          <p:cNvPr id="9" name="Sim" descr="Si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4709160"/>
            <a:ext cx="274320" cy="274320"/>
          </a:xfrm>
          <a:prstGeom prst="rect">
            <a:avLst/>
          </a:prstGeom>
        </p:spPr>
      </p:pic>
      <p:pic>
        <p:nvPicPr>
          <p:cNvPr id="10" name="Sim" descr="Si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4709160"/>
            <a:ext cx="274320" cy="274320"/>
          </a:xfrm>
          <a:prstGeom prst="rect">
            <a:avLst/>
          </a:prstGeom>
        </p:spPr>
      </p:pic>
      <p:sp>
        <p:nvSpPr>
          <p:cNvPr id="11" name="Cartão diferencial"/>
          <p:cNvSpPr/>
          <p:nvPr/>
        </p:nvSpPr>
        <p:spPr>
          <a:xfrm>
            <a:off x="7790688" y="1691640"/>
            <a:ext cx="3831336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Cartão diferencial faixa"/>
          <p:cNvSpPr/>
          <p:nvPr/>
        </p:nvSpPr>
        <p:spPr>
          <a:xfrm>
            <a:off x="7790688" y="1691640"/>
            <a:ext cx="54864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Diferencial"/>
          <p:cNvSpPr txBox="1"/>
          <p:nvPr/>
        </p:nvSpPr>
        <p:spPr>
          <a:xfrm>
            <a:off x="8083296" y="2057400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DIFERENCIAL</a:t>
            </a:r>
            <a:endParaRPr lang="en-US" sz="1100" dirty="0"/>
          </a:p>
        </p:txBody>
      </p:sp>
      <p:sp>
        <p:nvSpPr>
          <p:cNvPr id="14" name="Diferencial destaque"/>
          <p:cNvSpPr txBox="1"/>
          <p:nvPr/>
        </p:nvSpPr>
        <p:spPr>
          <a:xfrm>
            <a:off x="8083296" y="2560320"/>
            <a:ext cx="3236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As plataformas atuais resolvem a agenda.</a:t>
            </a:r>
            <a:endParaRPr lang="en-US" sz="1900" dirty="0"/>
          </a:p>
        </p:txBody>
      </p:sp>
      <p:sp>
        <p:nvSpPr>
          <p:cNvPr id="15" name="Diferencial texto"/>
          <p:cNvSpPr txBox="1"/>
          <p:nvPr/>
        </p:nvSpPr>
        <p:spPr>
          <a:xfrm>
            <a:off x="8083296" y="3520440"/>
            <a:ext cx="3236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O Visage Barber une o agendamento à recomendação de corte por visagismo, no mesmo sistema.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355080"/>
            <a:ext cx="329184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66928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DE NEGÓCIO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60350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</a:rPr>
              <a:t>Monetização por assinatura</a:t>
            </a:r>
            <a:endParaRPr lang="en-US" sz="3000" dirty="0"/>
          </a:p>
        </p:txBody>
      </p:sp>
      <p:sp>
        <p:nvSpPr>
          <p:cNvPr id="4" name="Cartão Básico"/>
          <p:cNvSpPr/>
          <p:nvPr/>
        </p:nvSpPr>
        <p:spPr>
          <a:xfrm>
            <a:off x="566928" y="1691640"/>
            <a:ext cx="3502152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Cartão Básico faixa"/>
          <p:cNvSpPr/>
          <p:nvPr/>
        </p:nvSpPr>
        <p:spPr>
          <a:xfrm>
            <a:off x="566928" y="1691640"/>
            <a:ext cx="54864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ótulo Básico"/>
          <p:cNvSpPr txBox="1"/>
          <p:nvPr/>
        </p:nvSpPr>
        <p:spPr>
          <a:xfrm>
            <a:off x="859536" y="1947672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PLANO 01</a:t>
            </a:r>
            <a:endParaRPr lang="en-US" sz="900" dirty="0"/>
          </a:p>
        </p:txBody>
      </p:sp>
      <p:sp>
        <p:nvSpPr>
          <p:cNvPr id="7" name="Básico"/>
          <p:cNvSpPr txBox="1"/>
          <p:nvPr/>
        </p:nvSpPr>
        <p:spPr>
          <a:xfrm>
            <a:off x="859536" y="2221992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Básico</a:t>
            </a:r>
            <a:endParaRPr lang="en-US" sz="3000" dirty="0"/>
          </a:p>
        </p:txBody>
      </p:sp>
      <p:sp>
        <p:nvSpPr>
          <p:cNvPr id="8" name="Público Básico"/>
          <p:cNvSpPr txBox="1"/>
          <p:nvPr/>
        </p:nvSpPr>
        <p:spPr>
          <a:xfrm>
            <a:off x="859536" y="283464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BARBEARIAS PEQUENAS</a:t>
            </a:r>
            <a:endParaRPr lang="en-US" sz="1000" dirty="0"/>
          </a:p>
        </p:txBody>
      </p:sp>
      <p:sp>
        <p:nvSpPr>
          <p:cNvPr id="9" name="Recursos Básico"/>
          <p:cNvSpPr txBox="1"/>
          <p:nvPr/>
        </p:nvSpPr>
        <p:spPr>
          <a:xfrm>
            <a:off x="859536" y="3383280"/>
            <a:ext cx="2907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Agendamento online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Até 2 barbeiros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Módulo de visagismo</a:t>
            </a:r>
            <a:endParaRPr lang="en-US" sz="1500" dirty="0"/>
          </a:p>
        </p:txBody>
      </p:sp>
      <p:sp>
        <p:nvSpPr>
          <p:cNvPr id="10" name="Cartão Pró"/>
          <p:cNvSpPr/>
          <p:nvPr/>
        </p:nvSpPr>
        <p:spPr>
          <a:xfrm>
            <a:off x="4343400" y="1691640"/>
            <a:ext cx="3502152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Cartão Pró faixa"/>
          <p:cNvSpPr/>
          <p:nvPr/>
        </p:nvSpPr>
        <p:spPr>
          <a:xfrm>
            <a:off x="4343400" y="1691640"/>
            <a:ext cx="54864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ótulo Pró"/>
          <p:cNvSpPr txBox="1"/>
          <p:nvPr/>
        </p:nvSpPr>
        <p:spPr>
          <a:xfrm>
            <a:off x="4636008" y="1947672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PLANO 02</a:t>
            </a:r>
            <a:endParaRPr lang="en-US" sz="900" dirty="0"/>
          </a:p>
        </p:txBody>
      </p:sp>
      <p:sp>
        <p:nvSpPr>
          <p:cNvPr id="13" name="Pró"/>
          <p:cNvSpPr txBox="1"/>
          <p:nvPr/>
        </p:nvSpPr>
        <p:spPr>
          <a:xfrm>
            <a:off x="4636008" y="2221992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Pró</a:t>
            </a:r>
            <a:endParaRPr lang="en-US" sz="3000" dirty="0"/>
          </a:p>
        </p:txBody>
      </p:sp>
      <p:sp>
        <p:nvSpPr>
          <p:cNvPr id="14" name="Público Pró"/>
          <p:cNvSpPr txBox="1"/>
          <p:nvPr/>
        </p:nvSpPr>
        <p:spPr>
          <a:xfrm>
            <a:off x="4636008" y="283464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ESTABELECIMENTOS MÉDIOS</a:t>
            </a:r>
            <a:endParaRPr lang="en-US" sz="1000" dirty="0"/>
          </a:p>
        </p:txBody>
      </p:sp>
      <p:sp>
        <p:nvSpPr>
          <p:cNvPr id="15" name="Recursos Pró"/>
          <p:cNvSpPr txBox="1"/>
          <p:nvPr/>
        </p:nvSpPr>
        <p:spPr>
          <a:xfrm>
            <a:off x="4636008" y="3383280"/>
            <a:ext cx="2907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Agendamento online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Barbeiros ilimitados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Módulo de visagismo</a:t>
            </a:r>
            <a:endParaRPr lang="en-US" sz="1500" dirty="0"/>
          </a:p>
        </p:txBody>
      </p:sp>
      <p:sp>
        <p:nvSpPr>
          <p:cNvPr id="16" name="Cartão Premium"/>
          <p:cNvSpPr/>
          <p:nvPr/>
        </p:nvSpPr>
        <p:spPr>
          <a:xfrm>
            <a:off x="8119872" y="1691640"/>
            <a:ext cx="3502152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Cartão Premium faixa"/>
          <p:cNvSpPr/>
          <p:nvPr/>
        </p:nvSpPr>
        <p:spPr>
          <a:xfrm>
            <a:off x="8119872" y="1691640"/>
            <a:ext cx="54864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ótulo Premium"/>
          <p:cNvSpPr txBox="1"/>
          <p:nvPr/>
        </p:nvSpPr>
        <p:spPr>
          <a:xfrm>
            <a:off x="8412480" y="1947672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PLANO 03</a:t>
            </a:r>
            <a:endParaRPr lang="en-US" sz="900" dirty="0"/>
          </a:p>
        </p:txBody>
      </p:sp>
      <p:sp>
        <p:nvSpPr>
          <p:cNvPr id="19" name="Premium"/>
          <p:cNvSpPr txBox="1"/>
          <p:nvPr/>
        </p:nvSpPr>
        <p:spPr>
          <a:xfrm>
            <a:off x="8412480" y="2221992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Premium</a:t>
            </a:r>
            <a:endParaRPr lang="en-US" sz="3000" dirty="0"/>
          </a:p>
        </p:txBody>
      </p:sp>
      <p:sp>
        <p:nvSpPr>
          <p:cNvPr id="20" name="Público Premium"/>
          <p:cNvSpPr txBox="1"/>
          <p:nvPr/>
        </p:nvSpPr>
        <p:spPr>
          <a:xfrm>
            <a:off x="8412480" y="283464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REDES / FRANQUIAS</a:t>
            </a:r>
            <a:endParaRPr lang="en-US" sz="1000" dirty="0"/>
          </a:p>
        </p:txBody>
      </p:sp>
      <p:sp>
        <p:nvSpPr>
          <p:cNvPr id="21" name="Recursos Premium"/>
          <p:cNvSpPr txBox="1"/>
          <p:nvPr/>
        </p:nvSpPr>
        <p:spPr>
          <a:xfrm>
            <a:off x="8412480" y="3383280"/>
            <a:ext cx="2907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Tudo do plano Pró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Suporte prioritário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Relatórios</a:t>
            </a:r>
            <a:endParaRPr lang="en-US" sz="1500" dirty="0"/>
          </a:p>
        </p:txBody>
      </p:sp>
      <p:sp>
        <p:nvSpPr>
          <p:cNvPr id="22" name="Observação"/>
          <p:cNvSpPr txBox="1"/>
          <p:nvPr/>
        </p:nvSpPr>
        <p:spPr>
          <a:xfrm>
            <a:off x="566928" y="53949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cliente final (quem agenda) utiliza a plataforma gratuitamente. </a:t>
            </a:r>
            <a:r>
              <a:rPr lang="en-US" sz="1500" dirty="0">
                <a:solidFill>
                  <a:schemeClr val="tx2"/>
                </a:solidFill>
              </a:rPr>
              <a:t>A receita vem dos estabelecimentos que assinam o serviço.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355080"/>
            <a:ext cx="329184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66928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ARQUITETURA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60350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</a:rPr>
              <a:t>Tecnologias utilizadas</a:t>
            </a:r>
            <a:endParaRPr lang="en-US" sz="3000" dirty="0"/>
          </a:p>
        </p:txBody>
      </p:sp>
      <p:sp>
        <p:nvSpPr>
          <p:cNvPr id="4" name="Cartão React + Vite"/>
          <p:cNvSpPr/>
          <p:nvPr/>
        </p:nvSpPr>
        <p:spPr>
          <a:xfrm>
            <a:off x="566928" y="1691640"/>
            <a:ext cx="3502152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Cartão React + Vite faixa"/>
          <p:cNvSpPr/>
          <p:nvPr/>
        </p:nvSpPr>
        <p:spPr>
          <a:xfrm>
            <a:off x="566928" y="1691640"/>
            <a:ext cx="54864" cy="1874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Logo React + Vite" descr="React + V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987906"/>
            <a:ext cx="658368" cy="614477"/>
          </a:xfrm>
          <a:prstGeom prst="rect">
            <a:avLst/>
          </a:prstGeom>
        </p:spPr>
      </p:pic>
      <p:sp>
        <p:nvSpPr>
          <p:cNvPr id="7" name="Camada React + Vite"/>
          <p:cNvSpPr txBox="1"/>
          <p:nvPr/>
        </p:nvSpPr>
        <p:spPr>
          <a:xfrm>
            <a:off x="1709928" y="196596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</a:t>
            </a:r>
            <a:endParaRPr lang="en-US" sz="900" dirty="0"/>
          </a:p>
        </p:txBody>
      </p:sp>
      <p:sp>
        <p:nvSpPr>
          <p:cNvPr id="8" name="React + Vite"/>
          <p:cNvSpPr txBox="1"/>
          <p:nvPr/>
        </p:nvSpPr>
        <p:spPr>
          <a:xfrm>
            <a:off x="1709928" y="222199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React + Vite</a:t>
            </a:r>
            <a:endParaRPr lang="en-US" sz="1800" dirty="0"/>
          </a:p>
        </p:txBody>
      </p:sp>
      <p:sp>
        <p:nvSpPr>
          <p:cNvPr id="9" name="Descrição React + Vite"/>
          <p:cNvSpPr txBox="1"/>
          <p:nvPr/>
        </p:nvSpPr>
        <p:spPr>
          <a:xfrm>
            <a:off x="859536" y="2834640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Aplicação web do cliente e painel gerencial.</a:t>
            </a:r>
            <a:endParaRPr lang="en-US" sz="1250" dirty="0"/>
          </a:p>
        </p:txBody>
      </p:sp>
      <p:sp>
        <p:nvSpPr>
          <p:cNvPr id="10" name="Cartão React Native + Expo"/>
          <p:cNvSpPr/>
          <p:nvPr/>
        </p:nvSpPr>
        <p:spPr>
          <a:xfrm>
            <a:off x="4343400" y="1691640"/>
            <a:ext cx="3502152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Cartão React Native + Expo faixa"/>
          <p:cNvSpPr/>
          <p:nvPr/>
        </p:nvSpPr>
        <p:spPr>
          <a:xfrm>
            <a:off x="4343400" y="1691640"/>
            <a:ext cx="54864" cy="1874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Logo React Native + Expo" descr="React Native + Exp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1965960"/>
            <a:ext cx="658368" cy="658368"/>
          </a:xfrm>
          <a:prstGeom prst="rect">
            <a:avLst/>
          </a:prstGeom>
        </p:spPr>
      </p:pic>
      <p:sp>
        <p:nvSpPr>
          <p:cNvPr id="13" name="Camada React Native + Expo"/>
          <p:cNvSpPr txBox="1"/>
          <p:nvPr/>
        </p:nvSpPr>
        <p:spPr>
          <a:xfrm>
            <a:off x="5486400" y="196596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</a:t>
            </a:r>
            <a:endParaRPr lang="en-US" sz="900" dirty="0"/>
          </a:p>
        </p:txBody>
      </p:sp>
      <p:sp>
        <p:nvSpPr>
          <p:cNvPr id="14" name="React Native + Expo"/>
          <p:cNvSpPr txBox="1"/>
          <p:nvPr/>
        </p:nvSpPr>
        <p:spPr>
          <a:xfrm>
            <a:off x="5486400" y="222199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React Native + Expo</a:t>
            </a:r>
            <a:endParaRPr lang="en-US" sz="1800" dirty="0"/>
          </a:p>
        </p:txBody>
      </p:sp>
      <p:sp>
        <p:nvSpPr>
          <p:cNvPr id="15" name="Descrição React Native + Expo"/>
          <p:cNvSpPr txBox="1"/>
          <p:nvPr/>
        </p:nvSpPr>
        <p:spPr>
          <a:xfrm>
            <a:off x="4636008" y="2834640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Aplicativo para clientes, barbeiros e administradores.</a:t>
            </a:r>
            <a:endParaRPr lang="en-US" sz="1250" dirty="0"/>
          </a:p>
        </p:txBody>
      </p:sp>
      <p:sp>
        <p:nvSpPr>
          <p:cNvPr id="16" name="Cartão Node.js + Express"/>
          <p:cNvSpPr/>
          <p:nvPr/>
        </p:nvSpPr>
        <p:spPr>
          <a:xfrm>
            <a:off x="8119872" y="1691640"/>
            <a:ext cx="3502152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Cartão Node.js + Express faixa"/>
          <p:cNvSpPr/>
          <p:nvPr/>
        </p:nvSpPr>
        <p:spPr>
          <a:xfrm>
            <a:off x="8119872" y="1691640"/>
            <a:ext cx="54864" cy="1874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Logo Node.js + Express" descr="Node.js + Expres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2875" y="1965960"/>
            <a:ext cx="637577" cy="658368"/>
          </a:xfrm>
          <a:prstGeom prst="rect">
            <a:avLst/>
          </a:prstGeom>
        </p:spPr>
      </p:pic>
      <p:sp>
        <p:nvSpPr>
          <p:cNvPr id="19" name="Camada Node.js + Express"/>
          <p:cNvSpPr txBox="1"/>
          <p:nvPr/>
        </p:nvSpPr>
        <p:spPr>
          <a:xfrm>
            <a:off x="9262872" y="196596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BACK-END</a:t>
            </a:r>
            <a:endParaRPr lang="en-US" sz="900" dirty="0"/>
          </a:p>
        </p:txBody>
      </p:sp>
      <p:sp>
        <p:nvSpPr>
          <p:cNvPr id="20" name="Node.js + Express"/>
          <p:cNvSpPr txBox="1"/>
          <p:nvPr/>
        </p:nvSpPr>
        <p:spPr>
          <a:xfrm>
            <a:off x="9262872" y="222199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Node.js + Express</a:t>
            </a:r>
            <a:endParaRPr lang="en-US" sz="1800" dirty="0"/>
          </a:p>
        </p:txBody>
      </p:sp>
      <p:sp>
        <p:nvSpPr>
          <p:cNvPr id="21" name="Descrição Node.js + Express"/>
          <p:cNvSpPr txBox="1"/>
          <p:nvPr/>
        </p:nvSpPr>
        <p:spPr>
          <a:xfrm>
            <a:off x="8412480" y="2834640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API de cadastro, recomendação, métricas e visagismo.</a:t>
            </a:r>
            <a:endParaRPr lang="en-US" sz="1250" dirty="0"/>
          </a:p>
        </p:txBody>
      </p:sp>
      <p:sp>
        <p:nvSpPr>
          <p:cNvPr id="22" name="Cartão Supabase"/>
          <p:cNvSpPr/>
          <p:nvPr/>
        </p:nvSpPr>
        <p:spPr>
          <a:xfrm>
            <a:off x="566928" y="3840480"/>
            <a:ext cx="3502152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Cartão Supabase faixa"/>
          <p:cNvSpPr/>
          <p:nvPr/>
        </p:nvSpPr>
        <p:spPr>
          <a:xfrm>
            <a:off x="566928" y="3840480"/>
            <a:ext cx="54864" cy="1874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Logo Supabase" descr="Supaba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198255"/>
            <a:ext cx="658368" cy="491458"/>
          </a:xfrm>
          <a:prstGeom prst="rect">
            <a:avLst/>
          </a:prstGeom>
        </p:spPr>
      </p:pic>
      <p:sp>
        <p:nvSpPr>
          <p:cNvPr id="25" name="Camada Supabase"/>
          <p:cNvSpPr txBox="1"/>
          <p:nvPr/>
        </p:nvSpPr>
        <p:spPr>
          <a:xfrm>
            <a:off x="1709928" y="411480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BANCO DE DADOS</a:t>
            </a:r>
            <a:endParaRPr lang="en-US" sz="900" dirty="0"/>
          </a:p>
        </p:txBody>
      </p:sp>
      <p:sp>
        <p:nvSpPr>
          <p:cNvPr id="26" name="Supabase"/>
          <p:cNvSpPr txBox="1"/>
          <p:nvPr/>
        </p:nvSpPr>
        <p:spPr>
          <a:xfrm>
            <a:off x="1709928" y="437083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Supabase</a:t>
            </a:r>
            <a:endParaRPr lang="en-US" sz="1800" dirty="0"/>
          </a:p>
        </p:txBody>
      </p:sp>
      <p:sp>
        <p:nvSpPr>
          <p:cNvPr id="27" name="Descrição Supabase"/>
          <p:cNvSpPr txBox="1"/>
          <p:nvPr/>
        </p:nvSpPr>
        <p:spPr>
          <a:xfrm>
            <a:off x="859536" y="4983480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PostgreSQL, autenticação e regras de acesso por perfil.</a:t>
            </a:r>
            <a:endParaRPr lang="en-US" sz="1250" dirty="0"/>
          </a:p>
        </p:txBody>
      </p:sp>
      <p:sp>
        <p:nvSpPr>
          <p:cNvPr id="28" name="Cartão Google Gemini"/>
          <p:cNvSpPr/>
          <p:nvPr/>
        </p:nvSpPr>
        <p:spPr>
          <a:xfrm>
            <a:off x="4343400" y="3840480"/>
            <a:ext cx="3502152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Cartão Google Gemini faixa"/>
          <p:cNvSpPr/>
          <p:nvPr/>
        </p:nvSpPr>
        <p:spPr>
          <a:xfrm>
            <a:off x="4343400" y="3840480"/>
            <a:ext cx="54864" cy="1874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Logo Google Gemini" descr="Google Gemini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008" y="4114800"/>
            <a:ext cx="658368" cy="658368"/>
          </a:xfrm>
          <a:prstGeom prst="rect">
            <a:avLst/>
          </a:prstGeom>
        </p:spPr>
      </p:pic>
      <p:sp>
        <p:nvSpPr>
          <p:cNvPr id="31" name="Camada Google Gemini"/>
          <p:cNvSpPr txBox="1"/>
          <p:nvPr/>
        </p:nvSpPr>
        <p:spPr>
          <a:xfrm>
            <a:off x="5486400" y="411480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INTELIGÊNCIA ARTIFICIAL</a:t>
            </a:r>
            <a:endParaRPr lang="en-US" sz="900" dirty="0"/>
          </a:p>
        </p:txBody>
      </p:sp>
      <p:sp>
        <p:nvSpPr>
          <p:cNvPr id="32" name="Google Gemini"/>
          <p:cNvSpPr txBox="1"/>
          <p:nvPr/>
        </p:nvSpPr>
        <p:spPr>
          <a:xfrm>
            <a:off x="5486400" y="437083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Google Gemini</a:t>
            </a:r>
            <a:endParaRPr lang="en-US" sz="1800" dirty="0"/>
          </a:p>
        </p:txBody>
      </p:sp>
      <p:sp>
        <p:nvSpPr>
          <p:cNvPr id="33" name="Descrição Google Gemini"/>
          <p:cNvSpPr txBox="1"/>
          <p:nvPr/>
        </p:nvSpPr>
        <p:spPr>
          <a:xfrm>
            <a:off x="4636008" y="4983480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Análise da foto do rosto e recomendação de visagismo.</a:t>
            </a:r>
            <a:endParaRPr lang="en-US" sz="1250" dirty="0"/>
          </a:p>
        </p:txBody>
      </p:sp>
      <p:sp>
        <p:nvSpPr>
          <p:cNvPr id="34" name="Cartão Git + GitHub"/>
          <p:cNvSpPr/>
          <p:nvPr/>
        </p:nvSpPr>
        <p:spPr>
          <a:xfrm>
            <a:off x="8119872" y="3840480"/>
            <a:ext cx="3502152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Cartão Git + GitHub faixa"/>
          <p:cNvSpPr/>
          <p:nvPr/>
        </p:nvSpPr>
        <p:spPr>
          <a:xfrm>
            <a:off x="8119872" y="3840480"/>
            <a:ext cx="54864" cy="1874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Logo Git + GitHub" descr="Git + GitHub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8998" y="4114800"/>
            <a:ext cx="645331" cy="658368"/>
          </a:xfrm>
          <a:prstGeom prst="rect">
            <a:avLst/>
          </a:prstGeom>
        </p:spPr>
      </p:pic>
      <p:sp>
        <p:nvSpPr>
          <p:cNvPr id="37" name="Camada Git + GitHub"/>
          <p:cNvSpPr txBox="1"/>
          <p:nvPr/>
        </p:nvSpPr>
        <p:spPr>
          <a:xfrm>
            <a:off x="9262872" y="411480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VERSIONAMENTO</a:t>
            </a:r>
            <a:endParaRPr lang="en-US" sz="900" dirty="0"/>
          </a:p>
        </p:txBody>
      </p:sp>
      <p:sp>
        <p:nvSpPr>
          <p:cNvPr id="38" name="Git + GitHub"/>
          <p:cNvSpPr txBox="1"/>
          <p:nvPr/>
        </p:nvSpPr>
        <p:spPr>
          <a:xfrm>
            <a:off x="9262872" y="437083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Git + GitHub</a:t>
            </a:r>
            <a:endParaRPr lang="en-US" sz="1800" dirty="0"/>
          </a:p>
        </p:txBody>
      </p:sp>
      <p:sp>
        <p:nvSpPr>
          <p:cNvPr id="39" name="Descrição Git + GitHub"/>
          <p:cNvSpPr txBox="1"/>
          <p:nvPr/>
        </p:nvSpPr>
        <p:spPr>
          <a:xfrm>
            <a:off x="8412480" y="4983480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Controle de versão e colaboração da equipe.</a:t>
            </a:r>
            <a:endParaRPr lang="en-US" sz="12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355080"/>
            <a:ext cx="329184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66928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REQUISITOS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60350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</a:rPr>
              <a:t>Requisitos funcionais</a:t>
            </a:r>
            <a:endParaRPr lang="en-US" sz="3000" dirty="0"/>
          </a:p>
        </p:txBody>
      </p:sp>
      <p:pic>
        <p:nvPicPr>
          <p:cNvPr id="4" name="RF01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61338"/>
            <a:ext cx="155448" cy="155448"/>
          </a:xfrm>
          <a:prstGeom prst="rect">
            <a:avLst/>
          </a:prstGeom>
        </p:spPr>
      </p:pic>
      <p:sp>
        <p:nvSpPr>
          <p:cNvPr id="5" name="RF01 código"/>
          <p:cNvSpPr txBox="1"/>
          <p:nvPr/>
        </p:nvSpPr>
        <p:spPr>
          <a:xfrm>
            <a:off x="813816" y="1481328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RF01</a:t>
            </a:r>
            <a:endParaRPr lang="en-US" sz="1000" dirty="0"/>
          </a:p>
        </p:txBody>
      </p:sp>
      <p:sp>
        <p:nvSpPr>
          <p:cNvPr id="6" name="RF01"/>
          <p:cNvSpPr txBox="1"/>
          <p:nvPr/>
        </p:nvSpPr>
        <p:spPr>
          <a:xfrm>
            <a:off x="1243584" y="1481328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Cadastro de usuários com perfis distintos</a:t>
            </a:r>
            <a:endParaRPr lang="en-US" sz="1100" dirty="0"/>
          </a:p>
        </p:txBody>
      </p:sp>
      <p:pic>
        <p:nvPicPr>
          <p:cNvPr id="7" name="RF02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76806"/>
            <a:ext cx="155448" cy="155448"/>
          </a:xfrm>
          <a:prstGeom prst="rect">
            <a:avLst/>
          </a:prstGeom>
        </p:spPr>
      </p:pic>
      <p:sp>
        <p:nvSpPr>
          <p:cNvPr id="8" name="RF02 código"/>
          <p:cNvSpPr txBox="1"/>
          <p:nvPr/>
        </p:nvSpPr>
        <p:spPr>
          <a:xfrm>
            <a:off x="813816" y="1796796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RF02</a:t>
            </a:r>
            <a:endParaRPr lang="en-US" sz="1000" dirty="0"/>
          </a:p>
        </p:txBody>
      </p:sp>
      <p:sp>
        <p:nvSpPr>
          <p:cNvPr id="9" name="RF02"/>
          <p:cNvSpPr txBox="1"/>
          <p:nvPr/>
        </p:nvSpPr>
        <p:spPr>
          <a:xfrm>
            <a:off x="1243584" y="1796796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Autenticação por e-mail e senha</a:t>
            </a:r>
            <a:endParaRPr lang="en-US" sz="1100" dirty="0"/>
          </a:p>
        </p:txBody>
      </p:sp>
      <p:pic>
        <p:nvPicPr>
          <p:cNvPr id="10" name="RF03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92274"/>
            <a:ext cx="155448" cy="155448"/>
          </a:xfrm>
          <a:prstGeom prst="rect">
            <a:avLst/>
          </a:prstGeom>
        </p:spPr>
      </p:pic>
      <p:sp>
        <p:nvSpPr>
          <p:cNvPr id="11" name="RF03 código"/>
          <p:cNvSpPr txBox="1"/>
          <p:nvPr/>
        </p:nvSpPr>
        <p:spPr>
          <a:xfrm>
            <a:off x="813816" y="2112264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RF03</a:t>
            </a:r>
            <a:endParaRPr lang="en-US" sz="1000" dirty="0"/>
          </a:p>
        </p:txBody>
      </p:sp>
      <p:sp>
        <p:nvSpPr>
          <p:cNvPr id="12" name="RF03"/>
          <p:cNvSpPr txBox="1"/>
          <p:nvPr/>
        </p:nvSpPr>
        <p:spPr>
          <a:xfrm>
            <a:off x="1243584" y="2112264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Cadastro de cortes</a:t>
            </a:r>
            <a:endParaRPr lang="en-US" sz="1100" dirty="0"/>
          </a:p>
        </p:txBody>
      </p:sp>
      <p:pic>
        <p:nvPicPr>
          <p:cNvPr id="13" name="RF04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07742"/>
            <a:ext cx="155448" cy="155448"/>
          </a:xfrm>
          <a:prstGeom prst="rect">
            <a:avLst/>
          </a:prstGeom>
        </p:spPr>
      </p:pic>
      <p:sp>
        <p:nvSpPr>
          <p:cNvPr id="14" name="RF04 código"/>
          <p:cNvSpPr txBox="1"/>
          <p:nvPr/>
        </p:nvSpPr>
        <p:spPr>
          <a:xfrm>
            <a:off x="813816" y="2427732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RF04</a:t>
            </a:r>
            <a:endParaRPr lang="en-US" sz="1000" dirty="0"/>
          </a:p>
        </p:txBody>
      </p:sp>
      <p:sp>
        <p:nvSpPr>
          <p:cNvPr id="15" name="RF04"/>
          <p:cNvSpPr txBox="1"/>
          <p:nvPr/>
        </p:nvSpPr>
        <p:spPr>
          <a:xfrm>
            <a:off x="1243584" y="2427732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Cadastro de barbeiros</a:t>
            </a:r>
            <a:endParaRPr lang="en-US" sz="1100" dirty="0"/>
          </a:p>
        </p:txBody>
      </p:sp>
      <p:pic>
        <p:nvPicPr>
          <p:cNvPr id="16" name="RF05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823210"/>
            <a:ext cx="155448" cy="155448"/>
          </a:xfrm>
          <a:prstGeom prst="rect">
            <a:avLst/>
          </a:prstGeom>
        </p:spPr>
      </p:pic>
      <p:sp>
        <p:nvSpPr>
          <p:cNvPr id="17" name="RF05 código"/>
          <p:cNvSpPr txBox="1"/>
          <p:nvPr/>
        </p:nvSpPr>
        <p:spPr>
          <a:xfrm>
            <a:off x="813816" y="2743200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RF05</a:t>
            </a:r>
            <a:endParaRPr lang="en-US" sz="1000" dirty="0"/>
          </a:p>
        </p:txBody>
      </p:sp>
      <p:sp>
        <p:nvSpPr>
          <p:cNvPr id="18" name="RF05"/>
          <p:cNvSpPr txBox="1"/>
          <p:nvPr/>
        </p:nvSpPr>
        <p:spPr>
          <a:xfrm>
            <a:off x="1243584" y="2743200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Horários de funcionamento e disponibilidade</a:t>
            </a:r>
            <a:endParaRPr lang="en-US" sz="1100" dirty="0"/>
          </a:p>
        </p:txBody>
      </p:sp>
      <p:pic>
        <p:nvPicPr>
          <p:cNvPr id="19" name="RF06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38678"/>
            <a:ext cx="155448" cy="155448"/>
          </a:xfrm>
          <a:prstGeom prst="rect">
            <a:avLst/>
          </a:prstGeom>
        </p:spPr>
      </p:pic>
      <p:sp>
        <p:nvSpPr>
          <p:cNvPr id="20" name="RF06 código"/>
          <p:cNvSpPr txBox="1"/>
          <p:nvPr/>
        </p:nvSpPr>
        <p:spPr>
          <a:xfrm>
            <a:off x="813816" y="3058668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RF06</a:t>
            </a:r>
            <a:endParaRPr lang="en-US" sz="1000" dirty="0"/>
          </a:p>
        </p:txBody>
      </p:sp>
      <p:sp>
        <p:nvSpPr>
          <p:cNvPr id="21" name="RF06"/>
          <p:cNvSpPr txBox="1"/>
          <p:nvPr/>
        </p:nvSpPr>
        <p:spPr>
          <a:xfrm>
            <a:off x="1243584" y="3058668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Barbeiros, serviços e horários disponíveis</a:t>
            </a:r>
            <a:endParaRPr lang="en-US" sz="1100" dirty="0"/>
          </a:p>
        </p:txBody>
      </p:sp>
      <p:pic>
        <p:nvPicPr>
          <p:cNvPr id="22" name="RF07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454146"/>
            <a:ext cx="155448" cy="155448"/>
          </a:xfrm>
          <a:prstGeom prst="rect">
            <a:avLst/>
          </a:prstGeom>
        </p:spPr>
      </p:pic>
      <p:sp>
        <p:nvSpPr>
          <p:cNvPr id="23" name="RF07 código"/>
          <p:cNvSpPr txBox="1"/>
          <p:nvPr/>
        </p:nvSpPr>
        <p:spPr>
          <a:xfrm>
            <a:off x="813816" y="3374136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RF07</a:t>
            </a:r>
            <a:endParaRPr lang="en-US" sz="1000" dirty="0"/>
          </a:p>
        </p:txBody>
      </p:sp>
      <p:sp>
        <p:nvSpPr>
          <p:cNvPr id="24" name="RF07"/>
          <p:cNvSpPr txBox="1"/>
          <p:nvPr/>
        </p:nvSpPr>
        <p:spPr>
          <a:xfrm>
            <a:off x="1243584" y="3374136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Agendamento com barbeiro, serviço e horário</a:t>
            </a:r>
            <a:endParaRPr lang="en-US" sz="1100" dirty="0"/>
          </a:p>
        </p:txBody>
      </p:sp>
      <p:pic>
        <p:nvPicPr>
          <p:cNvPr id="25" name="RF08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769614"/>
            <a:ext cx="155448" cy="155448"/>
          </a:xfrm>
          <a:prstGeom prst="rect">
            <a:avLst/>
          </a:prstGeom>
        </p:spPr>
      </p:pic>
      <p:sp>
        <p:nvSpPr>
          <p:cNvPr id="26" name="RF08 código"/>
          <p:cNvSpPr txBox="1"/>
          <p:nvPr/>
        </p:nvSpPr>
        <p:spPr>
          <a:xfrm>
            <a:off x="813816" y="3689604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RF08</a:t>
            </a:r>
            <a:endParaRPr lang="en-US" sz="1000" dirty="0"/>
          </a:p>
        </p:txBody>
      </p:sp>
      <p:sp>
        <p:nvSpPr>
          <p:cNvPr id="27" name="RF08"/>
          <p:cNvSpPr txBox="1"/>
          <p:nvPr/>
        </p:nvSpPr>
        <p:spPr>
          <a:xfrm>
            <a:off x="1243584" y="3689604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Cancelamento de agendamento pelo cliente</a:t>
            </a:r>
            <a:endParaRPr lang="en-US" sz="1100" dirty="0"/>
          </a:p>
        </p:txBody>
      </p:sp>
      <p:pic>
        <p:nvPicPr>
          <p:cNvPr id="28" name="RF09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85082"/>
            <a:ext cx="155448" cy="155448"/>
          </a:xfrm>
          <a:prstGeom prst="rect">
            <a:avLst/>
          </a:prstGeom>
        </p:spPr>
      </p:pic>
      <p:sp>
        <p:nvSpPr>
          <p:cNvPr id="29" name="RF09 código"/>
          <p:cNvSpPr txBox="1"/>
          <p:nvPr/>
        </p:nvSpPr>
        <p:spPr>
          <a:xfrm>
            <a:off x="813816" y="4005072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RF09</a:t>
            </a:r>
            <a:endParaRPr lang="en-US" sz="1000" dirty="0"/>
          </a:p>
        </p:txBody>
      </p:sp>
      <p:sp>
        <p:nvSpPr>
          <p:cNvPr id="30" name="RF09"/>
          <p:cNvSpPr txBox="1"/>
          <p:nvPr/>
        </p:nvSpPr>
        <p:spPr>
          <a:xfrm>
            <a:off x="1243584" y="4005072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Horários agendados pelo cliente</a:t>
            </a:r>
            <a:endParaRPr lang="en-US" sz="1100" dirty="0"/>
          </a:p>
        </p:txBody>
      </p:sp>
      <p:pic>
        <p:nvPicPr>
          <p:cNvPr id="31" name="RF10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400550"/>
            <a:ext cx="155448" cy="155448"/>
          </a:xfrm>
          <a:prstGeom prst="rect">
            <a:avLst/>
          </a:prstGeom>
        </p:spPr>
      </p:pic>
      <p:sp>
        <p:nvSpPr>
          <p:cNvPr id="32" name="RF10 código"/>
          <p:cNvSpPr txBox="1"/>
          <p:nvPr/>
        </p:nvSpPr>
        <p:spPr>
          <a:xfrm>
            <a:off x="813816" y="4320540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RF10</a:t>
            </a:r>
            <a:endParaRPr lang="en-US" sz="1000" dirty="0"/>
          </a:p>
        </p:txBody>
      </p:sp>
      <p:sp>
        <p:nvSpPr>
          <p:cNvPr id="33" name="RF10"/>
          <p:cNvSpPr txBox="1"/>
          <p:nvPr/>
        </p:nvSpPr>
        <p:spPr>
          <a:xfrm>
            <a:off x="1243584" y="4320540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Módulo de visagismo na tela inicial</a:t>
            </a:r>
            <a:endParaRPr lang="en-US" sz="1100" dirty="0"/>
          </a:p>
        </p:txBody>
      </p:sp>
      <p:pic>
        <p:nvPicPr>
          <p:cNvPr id="34" name="RF11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716018"/>
            <a:ext cx="155448" cy="155448"/>
          </a:xfrm>
          <a:prstGeom prst="rect">
            <a:avLst/>
          </a:prstGeom>
        </p:spPr>
      </p:pic>
      <p:sp>
        <p:nvSpPr>
          <p:cNvPr id="35" name="RF11 código"/>
          <p:cNvSpPr txBox="1"/>
          <p:nvPr/>
        </p:nvSpPr>
        <p:spPr>
          <a:xfrm>
            <a:off x="813816" y="4636008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RF11</a:t>
            </a:r>
            <a:endParaRPr lang="en-US" sz="1000" dirty="0"/>
          </a:p>
        </p:txBody>
      </p:sp>
      <p:sp>
        <p:nvSpPr>
          <p:cNvPr id="36" name="RF11"/>
          <p:cNvSpPr txBox="1"/>
          <p:nvPr/>
        </p:nvSpPr>
        <p:spPr>
          <a:xfrm>
            <a:off x="1243584" y="4636008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Envio de foto para análise do formato facial</a:t>
            </a:r>
            <a:endParaRPr lang="en-US" sz="1100" dirty="0"/>
          </a:p>
        </p:txBody>
      </p:sp>
      <p:pic>
        <p:nvPicPr>
          <p:cNvPr id="37" name="RF12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031486"/>
            <a:ext cx="155448" cy="155448"/>
          </a:xfrm>
          <a:prstGeom prst="rect">
            <a:avLst/>
          </a:prstGeom>
        </p:spPr>
      </p:pic>
      <p:sp>
        <p:nvSpPr>
          <p:cNvPr id="38" name="RF12 código"/>
          <p:cNvSpPr txBox="1"/>
          <p:nvPr/>
        </p:nvSpPr>
        <p:spPr>
          <a:xfrm>
            <a:off x="813816" y="4951476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RF12</a:t>
            </a:r>
            <a:endParaRPr lang="en-US" sz="1000" dirty="0"/>
          </a:p>
        </p:txBody>
      </p:sp>
      <p:sp>
        <p:nvSpPr>
          <p:cNvPr id="39" name="RF12"/>
          <p:cNvSpPr txBox="1"/>
          <p:nvPr/>
        </p:nvSpPr>
        <p:spPr>
          <a:xfrm>
            <a:off x="1243584" y="4951476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Perguntas sobre preferências e estilo pessoal</a:t>
            </a:r>
            <a:endParaRPr lang="en-US" sz="1100" dirty="0"/>
          </a:p>
        </p:txBody>
      </p:sp>
      <p:pic>
        <p:nvPicPr>
          <p:cNvPr id="40" name="RF13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46954"/>
            <a:ext cx="155448" cy="155448"/>
          </a:xfrm>
          <a:prstGeom prst="rect">
            <a:avLst/>
          </a:prstGeom>
        </p:spPr>
      </p:pic>
      <p:sp>
        <p:nvSpPr>
          <p:cNvPr id="41" name="RF13 código"/>
          <p:cNvSpPr txBox="1"/>
          <p:nvPr/>
        </p:nvSpPr>
        <p:spPr>
          <a:xfrm>
            <a:off x="813816" y="5266944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RF13</a:t>
            </a:r>
            <a:endParaRPr lang="en-US" sz="1000" dirty="0"/>
          </a:p>
        </p:txBody>
      </p:sp>
      <p:sp>
        <p:nvSpPr>
          <p:cNvPr id="42" name="RF13"/>
          <p:cNvSpPr txBox="1"/>
          <p:nvPr/>
        </p:nvSpPr>
        <p:spPr>
          <a:xfrm>
            <a:off x="1243584" y="5266944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Recomendação personalizada de corte</a:t>
            </a:r>
            <a:endParaRPr lang="en-US" sz="1100" dirty="0"/>
          </a:p>
        </p:txBody>
      </p:sp>
      <p:pic>
        <p:nvPicPr>
          <p:cNvPr id="43" name="RF14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662422"/>
            <a:ext cx="155448" cy="155448"/>
          </a:xfrm>
          <a:prstGeom prst="rect">
            <a:avLst/>
          </a:prstGeom>
        </p:spPr>
      </p:pic>
      <p:sp>
        <p:nvSpPr>
          <p:cNvPr id="44" name="RF14 código"/>
          <p:cNvSpPr txBox="1"/>
          <p:nvPr/>
        </p:nvSpPr>
        <p:spPr>
          <a:xfrm>
            <a:off x="813816" y="5582412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RF14</a:t>
            </a:r>
            <a:endParaRPr lang="en-US" sz="1000" dirty="0"/>
          </a:p>
        </p:txBody>
      </p:sp>
      <p:sp>
        <p:nvSpPr>
          <p:cNvPr id="45" name="RF14"/>
          <p:cNvSpPr txBox="1"/>
          <p:nvPr/>
        </p:nvSpPr>
        <p:spPr>
          <a:xfrm>
            <a:off x="1243584" y="5582412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Agenda do dia do barbeiro</a:t>
            </a:r>
            <a:endParaRPr lang="en-US" sz="1100" dirty="0"/>
          </a:p>
        </p:txBody>
      </p:sp>
      <p:pic>
        <p:nvPicPr>
          <p:cNvPr id="46" name="RF15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1561338"/>
            <a:ext cx="155448" cy="155448"/>
          </a:xfrm>
          <a:prstGeom prst="rect">
            <a:avLst/>
          </a:prstGeom>
        </p:spPr>
      </p:pic>
      <p:sp>
        <p:nvSpPr>
          <p:cNvPr id="47" name="RF15 código"/>
          <p:cNvSpPr txBox="1"/>
          <p:nvPr/>
        </p:nvSpPr>
        <p:spPr>
          <a:xfrm>
            <a:off x="5248656" y="1481328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RF15</a:t>
            </a:r>
            <a:endParaRPr lang="en-US" sz="1000" dirty="0"/>
          </a:p>
        </p:txBody>
      </p:sp>
      <p:sp>
        <p:nvSpPr>
          <p:cNvPr id="48" name="RF15"/>
          <p:cNvSpPr txBox="1"/>
          <p:nvPr/>
        </p:nvSpPr>
        <p:spPr>
          <a:xfrm>
            <a:off x="5678424" y="1481328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Tela inicial com a proposta do Visage Barber</a:t>
            </a:r>
            <a:endParaRPr lang="en-US" sz="1100" dirty="0"/>
          </a:p>
        </p:txBody>
      </p:sp>
      <p:pic>
        <p:nvPicPr>
          <p:cNvPr id="49" name="RF16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1876806"/>
            <a:ext cx="155448" cy="155448"/>
          </a:xfrm>
          <a:prstGeom prst="rect">
            <a:avLst/>
          </a:prstGeom>
        </p:spPr>
      </p:pic>
      <p:sp>
        <p:nvSpPr>
          <p:cNvPr id="50" name="RF16 código"/>
          <p:cNvSpPr txBox="1"/>
          <p:nvPr/>
        </p:nvSpPr>
        <p:spPr>
          <a:xfrm>
            <a:off x="5248656" y="1796796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RF16</a:t>
            </a:r>
            <a:endParaRPr lang="en-US" sz="1000" dirty="0"/>
          </a:p>
        </p:txBody>
      </p:sp>
      <p:sp>
        <p:nvSpPr>
          <p:cNvPr id="51" name="RF16"/>
          <p:cNvSpPr txBox="1"/>
          <p:nvPr/>
        </p:nvSpPr>
        <p:spPr>
          <a:xfrm>
            <a:off x="5678424" y="1796796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Acesso distinto para cliente e administrador</a:t>
            </a:r>
            <a:endParaRPr lang="en-US" sz="1100" dirty="0"/>
          </a:p>
        </p:txBody>
      </p:sp>
      <p:pic>
        <p:nvPicPr>
          <p:cNvPr id="52" name="RF17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2192274"/>
            <a:ext cx="155448" cy="155448"/>
          </a:xfrm>
          <a:prstGeom prst="rect">
            <a:avLst/>
          </a:prstGeom>
        </p:spPr>
      </p:pic>
      <p:sp>
        <p:nvSpPr>
          <p:cNvPr id="53" name="RF17 código"/>
          <p:cNvSpPr txBox="1"/>
          <p:nvPr/>
        </p:nvSpPr>
        <p:spPr>
          <a:xfrm>
            <a:off x="5248656" y="2112264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RF17</a:t>
            </a:r>
            <a:endParaRPr lang="en-US" sz="1000" dirty="0"/>
          </a:p>
        </p:txBody>
      </p:sp>
      <p:sp>
        <p:nvSpPr>
          <p:cNvPr id="54" name="RF17"/>
          <p:cNvSpPr txBox="1"/>
          <p:nvPr/>
        </p:nvSpPr>
        <p:spPr>
          <a:xfrm>
            <a:off x="5678424" y="2112264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Histórico de agendamentos do cliente</a:t>
            </a:r>
            <a:endParaRPr lang="en-US" sz="1100" dirty="0"/>
          </a:p>
        </p:txBody>
      </p:sp>
      <p:pic>
        <p:nvPicPr>
          <p:cNvPr id="55" name="RF18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2507742"/>
            <a:ext cx="155448" cy="155448"/>
          </a:xfrm>
          <a:prstGeom prst="rect">
            <a:avLst/>
          </a:prstGeom>
        </p:spPr>
      </p:pic>
      <p:sp>
        <p:nvSpPr>
          <p:cNvPr id="56" name="RF18 código"/>
          <p:cNvSpPr txBox="1"/>
          <p:nvPr/>
        </p:nvSpPr>
        <p:spPr>
          <a:xfrm>
            <a:off x="5248656" y="2427732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RF18</a:t>
            </a:r>
            <a:endParaRPr lang="en-US" sz="1000" dirty="0"/>
          </a:p>
        </p:txBody>
      </p:sp>
      <p:sp>
        <p:nvSpPr>
          <p:cNvPr id="57" name="RF18"/>
          <p:cNvSpPr txBox="1"/>
          <p:nvPr/>
        </p:nvSpPr>
        <p:spPr>
          <a:xfrm>
            <a:off x="5678424" y="2427732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Edição de dados cadastrais pelo cliente</a:t>
            </a:r>
            <a:endParaRPr lang="en-US" sz="1100" dirty="0"/>
          </a:p>
        </p:txBody>
      </p:sp>
      <p:pic>
        <p:nvPicPr>
          <p:cNvPr id="58" name="RF19 status" descr="Em desenvolvimen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823210"/>
            <a:ext cx="155448" cy="155448"/>
          </a:xfrm>
          <a:prstGeom prst="rect">
            <a:avLst/>
          </a:prstGeom>
        </p:spPr>
      </p:pic>
      <p:sp>
        <p:nvSpPr>
          <p:cNvPr id="59" name="RF19 código"/>
          <p:cNvSpPr txBox="1"/>
          <p:nvPr/>
        </p:nvSpPr>
        <p:spPr>
          <a:xfrm>
            <a:off x="5248656" y="2743200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RF19</a:t>
            </a:r>
            <a:endParaRPr lang="en-US" sz="1000" dirty="0"/>
          </a:p>
        </p:txBody>
      </p:sp>
      <p:sp>
        <p:nvSpPr>
          <p:cNvPr id="60" name="RF19"/>
          <p:cNvSpPr txBox="1"/>
          <p:nvPr/>
        </p:nvSpPr>
        <p:spPr>
          <a:xfrm>
            <a:off x="5678424" y="2743200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Catálogo de cortes com nome, descrição e imagem</a:t>
            </a:r>
            <a:endParaRPr lang="en-US" sz="1100" dirty="0"/>
          </a:p>
        </p:txBody>
      </p:sp>
      <p:pic>
        <p:nvPicPr>
          <p:cNvPr id="61" name="RF20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3138678"/>
            <a:ext cx="155448" cy="155448"/>
          </a:xfrm>
          <a:prstGeom prst="rect">
            <a:avLst/>
          </a:prstGeom>
        </p:spPr>
      </p:pic>
      <p:sp>
        <p:nvSpPr>
          <p:cNvPr id="62" name="RF20 código"/>
          <p:cNvSpPr txBox="1"/>
          <p:nvPr/>
        </p:nvSpPr>
        <p:spPr>
          <a:xfrm>
            <a:off x="5248656" y="3058668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RF20</a:t>
            </a:r>
            <a:endParaRPr lang="en-US" sz="1000" dirty="0"/>
          </a:p>
        </p:txBody>
      </p:sp>
      <p:sp>
        <p:nvSpPr>
          <p:cNvPr id="63" name="RF20"/>
          <p:cNvSpPr txBox="1"/>
          <p:nvPr/>
        </p:nvSpPr>
        <p:spPr>
          <a:xfrm>
            <a:off x="5678424" y="3058668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Dashboard com indicadores do estabelecimento</a:t>
            </a:r>
            <a:endParaRPr lang="en-US" sz="1100" dirty="0"/>
          </a:p>
        </p:txBody>
      </p:sp>
      <p:pic>
        <p:nvPicPr>
          <p:cNvPr id="64" name="RF21 status" descr="Em desenvolvimen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454146"/>
            <a:ext cx="155448" cy="155448"/>
          </a:xfrm>
          <a:prstGeom prst="rect">
            <a:avLst/>
          </a:prstGeom>
        </p:spPr>
      </p:pic>
      <p:sp>
        <p:nvSpPr>
          <p:cNvPr id="65" name="RF21 código"/>
          <p:cNvSpPr txBox="1"/>
          <p:nvPr/>
        </p:nvSpPr>
        <p:spPr>
          <a:xfrm>
            <a:off x="5248656" y="3374136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RF21</a:t>
            </a:r>
            <a:endParaRPr lang="en-US" sz="1000" dirty="0"/>
          </a:p>
        </p:txBody>
      </p:sp>
      <p:sp>
        <p:nvSpPr>
          <p:cNvPr id="66" name="RF21"/>
          <p:cNvSpPr txBox="1"/>
          <p:nvPr/>
        </p:nvSpPr>
        <p:spPr>
          <a:xfrm>
            <a:off x="5678424" y="3374136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Agendamentos com filtros por data, barbeiro e status</a:t>
            </a:r>
            <a:endParaRPr lang="en-US" sz="1100" dirty="0"/>
          </a:p>
        </p:txBody>
      </p:sp>
      <p:pic>
        <p:nvPicPr>
          <p:cNvPr id="67" name="RF22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3769614"/>
            <a:ext cx="155448" cy="155448"/>
          </a:xfrm>
          <a:prstGeom prst="rect">
            <a:avLst/>
          </a:prstGeom>
        </p:spPr>
      </p:pic>
      <p:sp>
        <p:nvSpPr>
          <p:cNvPr id="68" name="RF22 código"/>
          <p:cNvSpPr txBox="1"/>
          <p:nvPr/>
        </p:nvSpPr>
        <p:spPr>
          <a:xfrm>
            <a:off x="5248656" y="3689604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RF22</a:t>
            </a:r>
            <a:endParaRPr lang="en-US" sz="1000" dirty="0"/>
          </a:p>
        </p:txBody>
      </p:sp>
      <p:sp>
        <p:nvSpPr>
          <p:cNvPr id="69" name="RF22"/>
          <p:cNvSpPr txBox="1"/>
          <p:nvPr/>
        </p:nvSpPr>
        <p:spPr>
          <a:xfrm>
            <a:off x="5678424" y="3689604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Ativação e desativação de barbeiros</a:t>
            </a:r>
            <a:endParaRPr lang="en-US" sz="1100" dirty="0"/>
          </a:p>
        </p:txBody>
      </p:sp>
      <p:pic>
        <p:nvPicPr>
          <p:cNvPr id="70" name="RF23 status" descr="Em desenvolvimen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4085082"/>
            <a:ext cx="155448" cy="155448"/>
          </a:xfrm>
          <a:prstGeom prst="rect">
            <a:avLst/>
          </a:prstGeom>
        </p:spPr>
      </p:pic>
      <p:sp>
        <p:nvSpPr>
          <p:cNvPr id="71" name="RF23 código"/>
          <p:cNvSpPr txBox="1"/>
          <p:nvPr/>
        </p:nvSpPr>
        <p:spPr>
          <a:xfrm>
            <a:off x="5248656" y="4005072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RF23</a:t>
            </a:r>
            <a:endParaRPr lang="en-US" sz="1000" dirty="0"/>
          </a:p>
        </p:txBody>
      </p:sp>
      <p:sp>
        <p:nvSpPr>
          <p:cNvPr id="72" name="RF23"/>
          <p:cNvSpPr txBox="1"/>
          <p:nvPr/>
        </p:nvSpPr>
        <p:spPr>
          <a:xfrm>
            <a:off x="5678424" y="4005072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Ativação e desativação de cortes do catálogo</a:t>
            </a:r>
            <a:endParaRPr lang="en-US" sz="1100" dirty="0"/>
          </a:p>
        </p:txBody>
      </p:sp>
      <p:pic>
        <p:nvPicPr>
          <p:cNvPr id="73" name="RF24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4400550"/>
            <a:ext cx="155448" cy="155448"/>
          </a:xfrm>
          <a:prstGeom prst="rect">
            <a:avLst/>
          </a:prstGeom>
        </p:spPr>
      </p:pic>
      <p:sp>
        <p:nvSpPr>
          <p:cNvPr id="74" name="RF24 código"/>
          <p:cNvSpPr txBox="1"/>
          <p:nvPr/>
        </p:nvSpPr>
        <p:spPr>
          <a:xfrm>
            <a:off x="5248656" y="4320540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RF24</a:t>
            </a:r>
            <a:endParaRPr lang="en-US" sz="1000" dirty="0"/>
          </a:p>
        </p:txBody>
      </p:sp>
      <p:sp>
        <p:nvSpPr>
          <p:cNvPr id="75" name="RF24"/>
          <p:cNvSpPr txBox="1"/>
          <p:nvPr/>
        </p:nvSpPr>
        <p:spPr>
          <a:xfrm>
            <a:off x="5678424" y="4320540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Atualização de status do atendimento</a:t>
            </a:r>
            <a:endParaRPr lang="en-US" sz="1100" dirty="0"/>
          </a:p>
        </p:txBody>
      </p:sp>
      <p:pic>
        <p:nvPicPr>
          <p:cNvPr id="76" name="RF25 status" descr="Concl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4716018"/>
            <a:ext cx="155448" cy="155448"/>
          </a:xfrm>
          <a:prstGeom prst="rect">
            <a:avLst/>
          </a:prstGeom>
        </p:spPr>
      </p:pic>
      <p:sp>
        <p:nvSpPr>
          <p:cNvPr id="77" name="RF25 código"/>
          <p:cNvSpPr txBox="1"/>
          <p:nvPr/>
        </p:nvSpPr>
        <p:spPr>
          <a:xfrm>
            <a:off x="5248656" y="4636008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RF25</a:t>
            </a:r>
            <a:endParaRPr lang="en-US" sz="1000" dirty="0"/>
          </a:p>
        </p:txBody>
      </p:sp>
      <p:sp>
        <p:nvSpPr>
          <p:cNvPr id="78" name="RF25"/>
          <p:cNvSpPr txBox="1"/>
          <p:nvPr/>
        </p:nvSpPr>
        <p:spPr>
          <a:xfrm>
            <a:off x="5678424" y="4636008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Cadastro direto pelo cliente na plataforma</a:t>
            </a:r>
            <a:endParaRPr lang="en-US" sz="1100" dirty="0"/>
          </a:p>
        </p:txBody>
      </p:sp>
      <p:pic>
        <p:nvPicPr>
          <p:cNvPr id="79" name="RF26 status" descr="Em desenvolvimen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5031486"/>
            <a:ext cx="155448" cy="155448"/>
          </a:xfrm>
          <a:prstGeom prst="rect">
            <a:avLst/>
          </a:prstGeom>
        </p:spPr>
      </p:pic>
      <p:sp>
        <p:nvSpPr>
          <p:cNvPr id="80" name="RF26 código"/>
          <p:cNvSpPr txBox="1"/>
          <p:nvPr/>
        </p:nvSpPr>
        <p:spPr>
          <a:xfrm>
            <a:off x="5248656" y="4951476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RF26</a:t>
            </a:r>
            <a:endParaRPr lang="en-US" sz="1000" dirty="0"/>
          </a:p>
        </p:txBody>
      </p:sp>
      <p:sp>
        <p:nvSpPr>
          <p:cNvPr id="81" name="RF26"/>
          <p:cNvSpPr txBox="1"/>
          <p:nvPr/>
        </p:nvSpPr>
        <p:spPr>
          <a:xfrm>
            <a:off x="5678424" y="4951476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Perfil completo do cliente para o administrador</a:t>
            </a:r>
            <a:endParaRPr lang="en-US" sz="1100" dirty="0"/>
          </a:p>
        </p:txBody>
      </p:sp>
      <p:pic>
        <p:nvPicPr>
          <p:cNvPr id="82" name="RF27 status" descr="Em desenvolvimen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5346954"/>
            <a:ext cx="155448" cy="155448"/>
          </a:xfrm>
          <a:prstGeom prst="rect">
            <a:avLst/>
          </a:prstGeom>
        </p:spPr>
      </p:pic>
      <p:sp>
        <p:nvSpPr>
          <p:cNvPr id="83" name="RF27 código"/>
          <p:cNvSpPr txBox="1"/>
          <p:nvPr/>
        </p:nvSpPr>
        <p:spPr>
          <a:xfrm>
            <a:off x="5248656" y="5266944"/>
            <a:ext cx="457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RF27</a:t>
            </a:r>
            <a:endParaRPr lang="en-US" sz="1000" dirty="0"/>
          </a:p>
        </p:txBody>
      </p:sp>
      <p:sp>
        <p:nvSpPr>
          <p:cNvPr id="84" name="RF27"/>
          <p:cNvSpPr txBox="1"/>
          <p:nvPr/>
        </p:nvSpPr>
        <p:spPr>
          <a:xfrm>
            <a:off x="5678424" y="5266944"/>
            <a:ext cx="36027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Notificação ao barbeiro após o agendamento</a:t>
            </a:r>
            <a:endParaRPr lang="en-US" sz="1100" dirty="0"/>
          </a:p>
        </p:txBody>
      </p:sp>
      <p:sp>
        <p:nvSpPr>
          <p:cNvPr id="85" name="Cartão progresso"/>
          <p:cNvSpPr/>
          <p:nvPr/>
        </p:nvSpPr>
        <p:spPr>
          <a:xfrm>
            <a:off x="9573768" y="1554480"/>
            <a:ext cx="2048256" cy="43434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6" name="Cartão progresso faixa"/>
          <p:cNvSpPr/>
          <p:nvPr/>
        </p:nvSpPr>
        <p:spPr>
          <a:xfrm>
            <a:off x="9573768" y="1554480"/>
            <a:ext cx="54864" cy="4343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7" name="Progresso"/>
          <p:cNvSpPr txBox="1"/>
          <p:nvPr/>
        </p:nvSpPr>
        <p:spPr>
          <a:xfrm>
            <a:off x="9829800" y="1783080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PROGRESSO</a:t>
            </a:r>
            <a:endParaRPr lang="en-US" sz="1000" dirty="0"/>
          </a:p>
        </p:txBody>
      </p:sp>
      <p:sp>
        <p:nvSpPr>
          <p:cNvPr id="88" name="Progresso número"/>
          <p:cNvSpPr txBox="1"/>
          <p:nvPr/>
        </p:nvSpPr>
        <p:spPr>
          <a:xfrm>
            <a:off x="9829800" y="2057400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chemeClr val="tx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22</a:t>
            </a:r>
            <a:r>
              <a:rPr lang="en-US" sz="22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 / 27</a:t>
            </a:r>
            <a:endParaRPr lang="en-US" sz="5400" dirty="0"/>
          </a:p>
        </p:txBody>
      </p:sp>
      <p:sp>
        <p:nvSpPr>
          <p:cNvPr id="89" name="Barra total"/>
          <p:cNvSpPr/>
          <p:nvPr/>
        </p:nvSpPr>
        <p:spPr>
          <a:xfrm>
            <a:off x="9829800" y="2971800"/>
            <a:ext cx="1536192" cy="91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0" name="Barra concluída"/>
          <p:cNvSpPr/>
          <p:nvPr/>
        </p:nvSpPr>
        <p:spPr>
          <a:xfrm>
            <a:off x="9829800" y="2971800"/>
            <a:ext cx="1251712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1" name="Legenda concluíd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3291840"/>
            <a:ext cx="155448" cy="155448"/>
          </a:xfrm>
          <a:prstGeom prst="rect">
            <a:avLst/>
          </a:prstGeom>
        </p:spPr>
      </p:pic>
      <p:sp>
        <p:nvSpPr>
          <p:cNvPr id="92" name="Legenda concluído texto"/>
          <p:cNvSpPr txBox="1"/>
          <p:nvPr/>
        </p:nvSpPr>
        <p:spPr>
          <a:xfrm>
            <a:off x="10058400" y="3246120"/>
            <a:ext cx="1316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Concluídos: 22</a:t>
            </a:r>
            <a:endParaRPr lang="en-US" sz="1150" dirty="0"/>
          </a:p>
        </p:txBody>
      </p:sp>
      <p:pic>
        <p:nvPicPr>
          <p:cNvPr id="93" name="Legenda em desenvolviment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84448"/>
            <a:ext cx="155448" cy="155448"/>
          </a:xfrm>
          <a:prstGeom prst="rect">
            <a:avLst/>
          </a:prstGeom>
        </p:spPr>
      </p:pic>
      <p:sp>
        <p:nvSpPr>
          <p:cNvPr id="94" name="Legenda em desenvolvimento texto"/>
          <p:cNvSpPr txBox="1"/>
          <p:nvPr/>
        </p:nvSpPr>
        <p:spPr>
          <a:xfrm>
            <a:off x="10058400" y="3538728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Em andamento: 5</a:t>
            </a:r>
            <a:endParaRPr lang="en-US" sz="1150" dirty="0"/>
          </a:p>
        </p:txBody>
      </p:sp>
      <p:sp>
        <p:nvSpPr>
          <p:cNvPr id="95" name="Além do escopo"/>
          <p:cNvSpPr txBox="1"/>
          <p:nvPr/>
        </p:nvSpPr>
        <p:spPr>
          <a:xfrm>
            <a:off x="9829800" y="4114800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ALÉM DO ESCOPO</a:t>
            </a:r>
            <a:endParaRPr lang="en-US" sz="1000" dirty="0"/>
          </a:p>
        </p:txBody>
      </p:sp>
      <p:sp>
        <p:nvSpPr>
          <p:cNvPr id="96" name="Além do escopo lista"/>
          <p:cNvSpPr txBox="1"/>
          <p:nvPr/>
        </p:nvSpPr>
        <p:spPr>
          <a:xfrm>
            <a:off x="9829800" y="4434840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Chat cliente–barbeiro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Avaliação do atendimento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Recuperação de senha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Tema claro e escuro</a:t>
            </a:r>
            <a:endParaRPr lang="en-US" sz="1050" dirty="0"/>
          </a:p>
        </p:txBody>
      </p:sp>
      <p:sp>
        <p:nvSpPr>
          <p:cNvPr id="9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355080"/>
            <a:ext cx="329184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66928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DEMONSTRAÇÃO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60350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</a:rPr>
              <a:t>Roteiro da demonstração</a:t>
            </a:r>
            <a:endParaRPr lang="en-US" sz="3000" dirty="0"/>
          </a:p>
        </p:txBody>
      </p:sp>
      <p:sp>
        <p:nvSpPr>
          <p:cNvPr id="4" name="Cartão ACESSO"/>
          <p:cNvSpPr/>
          <p:nvPr/>
        </p:nvSpPr>
        <p:spPr>
          <a:xfrm>
            <a:off x="566928" y="1691640"/>
            <a:ext cx="3502152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Cartão ACESSO faixa"/>
          <p:cNvSpPr/>
          <p:nvPr/>
        </p:nvSpPr>
        <p:spPr>
          <a:xfrm>
            <a:off x="566928" y="1691640"/>
            <a:ext cx="54864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Número 01"/>
          <p:cNvSpPr txBox="1"/>
          <p:nvPr/>
        </p:nvSpPr>
        <p:spPr>
          <a:xfrm>
            <a:off x="859536" y="19202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ACESSO"/>
          <p:cNvSpPr txBox="1"/>
          <p:nvPr/>
        </p:nvSpPr>
        <p:spPr>
          <a:xfrm>
            <a:off x="859536" y="235000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ACESSO</a:t>
            </a:r>
            <a:endParaRPr lang="en-US" sz="1100" dirty="0"/>
          </a:p>
        </p:txBody>
      </p:sp>
      <p:sp>
        <p:nvSpPr>
          <p:cNvPr id="8" name="Descrição ACESSO"/>
          <p:cNvSpPr txBox="1"/>
          <p:nvPr/>
        </p:nvSpPr>
        <p:spPr>
          <a:xfrm>
            <a:off x="859536" y="269748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Cadastro, login e os perfis de cliente, barbeiro e administrador.</a:t>
            </a:r>
            <a:endParaRPr lang="en-US" sz="1300" dirty="0"/>
          </a:p>
        </p:txBody>
      </p:sp>
      <p:sp>
        <p:nvSpPr>
          <p:cNvPr id="9" name="Cartão AGENDAMENTO"/>
          <p:cNvSpPr/>
          <p:nvPr/>
        </p:nvSpPr>
        <p:spPr>
          <a:xfrm>
            <a:off x="4343400" y="1691640"/>
            <a:ext cx="3502152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Cartão AGENDAMENTO faixa"/>
          <p:cNvSpPr/>
          <p:nvPr/>
        </p:nvSpPr>
        <p:spPr>
          <a:xfrm>
            <a:off x="4343400" y="1691640"/>
            <a:ext cx="54864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Número 02"/>
          <p:cNvSpPr txBox="1"/>
          <p:nvPr/>
        </p:nvSpPr>
        <p:spPr>
          <a:xfrm>
            <a:off x="4636008" y="19202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AGENDAMENTO"/>
          <p:cNvSpPr txBox="1"/>
          <p:nvPr/>
        </p:nvSpPr>
        <p:spPr>
          <a:xfrm>
            <a:off x="4636008" y="235000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AGENDAMENTO</a:t>
            </a:r>
            <a:endParaRPr lang="en-US" sz="1100" dirty="0"/>
          </a:p>
        </p:txBody>
      </p:sp>
      <p:sp>
        <p:nvSpPr>
          <p:cNvPr id="13" name="Descrição AGENDAMENTO"/>
          <p:cNvSpPr txBox="1"/>
          <p:nvPr/>
        </p:nvSpPr>
        <p:spPr>
          <a:xfrm>
            <a:off x="4636008" y="269748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Escolha de serviço, barbeiro, data e horário; cancelamento e histórico.</a:t>
            </a:r>
            <a:endParaRPr lang="en-US" sz="1300" dirty="0"/>
          </a:p>
        </p:txBody>
      </p:sp>
      <p:sp>
        <p:nvSpPr>
          <p:cNvPr id="14" name="Cartão VISAGISMO COM IA"/>
          <p:cNvSpPr/>
          <p:nvPr/>
        </p:nvSpPr>
        <p:spPr>
          <a:xfrm>
            <a:off x="8119872" y="1691640"/>
            <a:ext cx="3502152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Cartão VISAGISMO COM IA faixa"/>
          <p:cNvSpPr/>
          <p:nvPr/>
        </p:nvSpPr>
        <p:spPr>
          <a:xfrm>
            <a:off x="8119872" y="1691640"/>
            <a:ext cx="54864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Número 03"/>
          <p:cNvSpPr txBox="1"/>
          <p:nvPr/>
        </p:nvSpPr>
        <p:spPr>
          <a:xfrm>
            <a:off x="8412480" y="19202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VISAGISMO COM IA"/>
          <p:cNvSpPr txBox="1"/>
          <p:nvPr/>
        </p:nvSpPr>
        <p:spPr>
          <a:xfrm>
            <a:off x="8412480" y="235000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VISAGISMO COM IA</a:t>
            </a:r>
            <a:endParaRPr lang="en-US" sz="1100" dirty="0"/>
          </a:p>
        </p:txBody>
      </p:sp>
      <p:sp>
        <p:nvSpPr>
          <p:cNvPr id="18" name="Descrição VISAGISMO COM IA"/>
          <p:cNvSpPr txBox="1"/>
          <p:nvPr/>
        </p:nvSpPr>
        <p:spPr>
          <a:xfrm>
            <a:off x="8412480" y="269748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Envio da foto, análise do rosto e recomendação de corte e barba.</a:t>
            </a:r>
            <a:endParaRPr lang="en-US" sz="1300" dirty="0"/>
          </a:p>
        </p:txBody>
      </p:sp>
      <p:sp>
        <p:nvSpPr>
          <p:cNvPr id="19" name="Cartão PAINEL DO BARBEIRO"/>
          <p:cNvSpPr/>
          <p:nvPr/>
        </p:nvSpPr>
        <p:spPr>
          <a:xfrm>
            <a:off x="566928" y="3977640"/>
            <a:ext cx="3502152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Cartão PAINEL DO BARBEIRO faixa"/>
          <p:cNvSpPr/>
          <p:nvPr/>
        </p:nvSpPr>
        <p:spPr>
          <a:xfrm>
            <a:off x="566928" y="3977640"/>
            <a:ext cx="54864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Número 04"/>
          <p:cNvSpPr txBox="1"/>
          <p:nvPr/>
        </p:nvSpPr>
        <p:spPr>
          <a:xfrm>
            <a:off x="859536" y="42062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PAINEL DO BARBEIRO"/>
          <p:cNvSpPr txBox="1"/>
          <p:nvPr/>
        </p:nvSpPr>
        <p:spPr>
          <a:xfrm>
            <a:off x="859536" y="463600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PAINEL DO BARBEIRO</a:t>
            </a:r>
            <a:endParaRPr lang="en-US" sz="1100" dirty="0"/>
          </a:p>
        </p:txBody>
      </p:sp>
      <p:sp>
        <p:nvSpPr>
          <p:cNvPr id="23" name="Descrição PAINEL DO BARBEIRO"/>
          <p:cNvSpPr txBox="1"/>
          <p:nvPr/>
        </p:nvSpPr>
        <p:spPr>
          <a:xfrm>
            <a:off x="859536" y="498348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Agenda do dia, disponibilidade e status dos atendimentos.</a:t>
            </a:r>
            <a:endParaRPr lang="en-US" sz="1300" dirty="0"/>
          </a:p>
        </p:txBody>
      </p:sp>
      <p:sp>
        <p:nvSpPr>
          <p:cNvPr id="24" name="Cartão CHAT E AVALIAÇÃO"/>
          <p:cNvSpPr/>
          <p:nvPr/>
        </p:nvSpPr>
        <p:spPr>
          <a:xfrm>
            <a:off x="4343400" y="3977640"/>
            <a:ext cx="3502152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Cartão CHAT E AVALIAÇÃO faixa"/>
          <p:cNvSpPr/>
          <p:nvPr/>
        </p:nvSpPr>
        <p:spPr>
          <a:xfrm>
            <a:off x="4343400" y="3977640"/>
            <a:ext cx="54864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Número 05"/>
          <p:cNvSpPr txBox="1"/>
          <p:nvPr/>
        </p:nvSpPr>
        <p:spPr>
          <a:xfrm>
            <a:off x="4636008" y="42062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CHAT E AVALIAÇÃO"/>
          <p:cNvSpPr txBox="1"/>
          <p:nvPr/>
        </p:nvSpPr>
        <p:spPr>
          <a:xfrm>
            <a:off x="4636008" y="463600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E AVALIAÇÃO</a:t>
            </a:r>
            <a:endParaRPr lang="en-US" sz="1100" dirty="0"/>
          </a:p>
        </p:txBody>
      </p:sp>
      <p:sp>
        <p:nvSpPr>
          <p:cNvPr id="28" name="Descrição CHAT E AVALIAÇÃO"/>
          <p:cNvSpPr txBox="1"/>
          <p:nvPr/>
        </p:nvSpPr>
        <p:spPr>
          <a:xfrm>
            <a:off x="4636008" y="498348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Conversa entre cliente e barbeiro e nota do atendimento.</a:t>
            </a:r>
            <a:endParaRPr lang="en-US" sz="1300" dirty="0"/>
          </a:p>
        </p:txBody>
      </p:sp>
      <p:sp>
        <p:nvSpPr>
          <p:cNvPr id="29" name="Cartão ADMINISTRAÇÃO"/>
          <p:cNvSpPr/>
          <p:nvPr/>
        </p:nvSpPr>
        <p:spPr>
          <a:xfrm>
            <a:off x="8119872" y="3977640"/>
            <a:ext cx="3502152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Cartão ADMINISTRAÇÃO faixa"/>
          <p:cNvSpPr/>
          <p:nvPr/>
        </p:nvSpPr>
        <p:spPr>
          <a:xfrm>
            <a:off x="8119872" y="3977640"/>
            <a:ext cx="54864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Número 06"/>
          <p:cNvSpPr txBox="1"/>
          <p:nvPr/>
        </p:nvSpPr>
        <p:spPr>
          <a:xfrm>
            <a:off x="8412480" y="42062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ADMINISTRAÇÃO"/>
          <p:cNvSpPr txBox="1"/>
          <p:nvPr/>
        </p:nvSpPr>
        <p:spPr>
          <a:xfrm>
            <a:off x="8412480" y="463600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ADMINISTRAÇÃO</a:t>
            </a:r>
            <a:endParaRPr lang="en-US" sz="1100" dirty="0"/>
          </a:p>
        </p:txBody>
      </p:sp>
      <p:sp>
        <p:nvSpPr>
          <p:cNvPr id="33" name="Descrição ADMINISTRAÇÃO"/>
          <p:cNvSpPr txBox="1"/>
          <p:nvPr/>
        </p:nvSpPr>
        <p:spPr>
          <a:xfrm>
            <a:off x="8412480" y="498348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Dashboard de indicadores e gestão de barbeiros e usuários.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355080"/>
            <a:ext cx="329184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856551" y="2709144"/>
            <a:ext cx="707447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tx1"/>
                </a:solidFill>
              </a:rPr>
              <a:t>DEMONSTRAÇÃO</a:t>
            </a:r>
            <a:endParaRPr lang="en-US" sz="60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355080"/>
            <a:ext cx="329184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1585B68-10C0-6946-AC1C-C50D72294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442040"/>
            <a:ext cx="3246680" cy="41758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1005840" y="21031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EQUIPE AGRADECE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1005840" y="242316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dirty="0">
                <a:solidFill>
                  <a:schemeClr val="tx1"/>
                </a:solidFill>
              </a:rPr>
              <a:t>OBRIGADO!</a:t>
            </a:r>
            <a:endParaRPr lang="en-US" sz="7200" dirty="0"/>
          </a:p>
        </p:txBody>
      </p:sp>
      <p:sp>
        <p:nvSpPr>
          <p:cNvPr id="4" name="Contatos"/>
          <p:cNvSpPr txBox="1"/>
          <p:nvPr/>
        </p:nvSpPr>
        <p:spPr>
          <a:xfrm>
            <a:off x="694944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CONTATOS</a:t>
            </a:r>
            <a:endParaRPr lang="en-US" sz="1100" dirty="0"/>
          </a:p>
        </p:txBody>
      </p:sp>
      <p:sp>
        <p:nvSpPr>
          <p:cNvPr id="5" name="Cartão Alice Campos"/>
          <p:cNvSpPr/>
          <p:nvPr/>
        </p:nvSpPr>
        <p:spPr>
          <a:xfrm>
            <a:off x="6949440" y="1828800"/>
            <a:ext cx="4672584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Cartão Alice Campos faixa"/>
          <p:cNvSpPr/>
          <p:nvPr/>
        </p:nvSpPr>
        <p:spPr>
          <a:xfrm>
            <a:off x="6949440" y="1828800"/>
            <a:ext cx="54864" cy="9875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Alice Campos"/>
          <p:cNvSpPr txBox="1"/>
          <p:nvPr/>
        </p:nvSpPr>
        <p:spPr>
          <a:xfrm>
            <a:off x="7242048" y="1993392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Alice Campos</a:t>
            </a:r>
            <a:endParaRPr lang="en-US" sz="1700" dirty="0"/>
          </a:p>
        </p:txBody>
      </p:sp>
      <p:sp>
        <p:nvSpPr>
          <p:cNvPr id="8" name="E-mail Alice Campos"/>
          <p:cNvSpPr txBox="1"/>
          <p:nvPr/>
        </p:nvSpPr>
        <p:spPr>
          <a:xfrm>
            <a:off x="7242048" y="2359152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alice.campos@aedb.br</a:t>
            </a:r>
            <a:endParaRPr lang="en-US" sz="1300" dirty="0"/>
          </a:p>
        </p:txBody>
      </p:sp>
      <p:sp>
        <p:nvSpPr>
          <p:cNvPr id="9" name="Cartão Gabriel Alves"/>
          <p:cNvSpPr/>
          <p:nvPr/>
        </p:nvSpPr>
        <p:spPr>
          <a:xfrm>
            <a:off x="6949440" y="3017520"/>
            <a:ext cx="4672584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Cartão Gabriel Alves faixa"/>
          <p:cNvSpPr/>
          <p:nvPr/>
        </p:nvSpPr>
        <p:spPr>
          <a:xfrm>
            <a:off x="6949440" y="3017520"/>
            <a:ext cx="54864" cy="9875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Gabriel Alves"/>
          <p:cNvSpPr txBox="1"/>
          <p:nvPr/>
        </p:nvSpPr>
        <p:spPr>
          <a:xfrm>
            <a:off x="7242048" y="3182112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Gabriel Santos</a:t>
            </a:r>
            <a:endParaRPr lang="en-US" sz="1700" dirty="0"/>
          </a:p>
        </p:txBody>
      </p:sp>
      <p:sp>
        <p:nvSpPr>
          <p:cNvPr id="12" name="E-mail Gabriel Alves"/>
          <p:cNvSpPr txBox="1"/>
          <p:nvPr/>
        </p:nvSpPr>
        <p:spPr>
          <a:xfrm>
            <a:off x="7242048" y="3547872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gabriel.santos2@aedb.br</a:t>
            </a:r>
            <a:endParaRPr lang="en-US" sz="1300" dirty="0"/>
          </a:p>
        </p:txBody>
      </p:sp>
      <p:sp>
        <p:nvSpPr>
          <p:cNvPr id="13" name="Cartão Lucas Alves"/>
          <p:cNvSpPr/>
          <p:nvPr/>
        </p:nvSpPr>
        <p:spPr>
          <a:xfrm>
            <a:off x="6949440" y="4206240"/>
            <a:ext cx="4672584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Cartão Lucas Alves faixa"/>
          <p:cNvSpPr/>
          <p:nvPr/>
        </p:nvSpPr>
        <p:spPr>
          <a:xfrm>
            <a:off x="6949440" y="4206240"/>
            <a:ext cx="54864" cy="9875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Lucas Alves"/>
          <p:cNvSpPr txBox="1"/>
          <p:nvPr/>
        </p:nvSpPr>
        <p:spPr>
          <a:xfrm>
            <a:off x="7242048" y="4370832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Lucas Santos</a:t>
            </a:r>
            <a:endParaRPr lang="en-US" sz="1700" dirty="0"/>
          </a:p>
        </p:txBody>
      </p:sp>
      <p:sp>
        <p:nvSpPr>
          <p:cNvPr id="16" name="E-mail Lucas Alves"/>
          <p:cNvSpPr txBox="1"/>
          <p:nvPr/>
        </p:nvSpPr>
        <p:spPr>
          <a:xfrm>
            <a:off x="7242048" y="4736592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lucas.santos1@aedb.br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355080"/>
            <a:ext cx="329184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sage Barber Claro">
  <a:themeElements>
    <a:clrScheme name="Visage Barber Claro">
      <a:dk1>
        <a:srgbClr val="141414"/>
      </a:dk1>
      <a:lt1>
        <a:srgbClr val="FFFFFF"/>
      </a:lt1>
      <a:dk2>
        <a:srgbClr val="737373"/>
      </a:dk2>
      <a:lt2>
        <a:srgbClr val="F5F5F3"/>
      </a:lt2>
      <a:accent1>
        <a:srgbClr val="9ED600"/>
      </a:accent1>
      <a:accent2>
        <a:srgbClr val="5F8500"/>
      </a:accent2>
      <a:accent3>
        <a:srgbClr val="E0E0E0"/>
      </a:accent3>
      <a:accent4>
        <a:srgbClr val="2E9E44"/>
      </a:accent4>
      <a:accent5>
        <a:srgbClr val="E53935"/>
      </a:accent5>
      <a:accent6>
        <a:srgbClr val="F2A100"/>
      </a:accent6>
      <a:hlink>
        <a:srgbClr val="5F8500"/>
      </a:hlink>
      <a:folHlink>
        <a:srgbClr val="5F8500"/>
      </a:folHlink>
    </a:clrScheme>
    <a:fontScheme name="Visage Barber Claro">
      <a:majorFont>
        <a:latin typeface="Segoe U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908</Words>
  <Application>Microsoft Office PowerPoint</Application>
  <PresentationFormat>Widescreen</PresentationFormat>
  <Paragraphs>214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Consolas</vt:lpstr>
      <vt:lpstr>Segoe UI Light</vt:lpstr>
      <vt:lpstr>Visage Barber Claro</vt:lpstr>
      <vt:lpstr>VISAGE BARBER</vt:lpstr>
      <vt:lpstr>Quem desenvolve o projeto</vt:lpstr>
      <vt:lpstr>O que é o Visage Barber?</vt:lpstr>
      <vt:lpstr>O que acontece hoje nas barbearias</vt:lpstr>
      <vt:lpstr>Concorrentes e inspirações</vt:lpstr>
      <vt:lpstr>Monetização por assinatura</vt:lpstr>
      <vt:lpstr>Tecnologias utilizadas</vt:lpstr>
      <vt:lpstr>Requisitos funcionais</vt:lpstr>
      <vt:lpstr>Roteiro da demonstração</vt:lpstr>
      <vt:lpstr>DEMONSTRAÇÃO</vt:lpstr>
      <vt:lpstr>OBRIGADO!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TCC - Visage Barber - 3º Seminário</dc:title>
  <dc:subject>PptxGenJS Presentation</dc:subject>
  <dc:creator>Alice Campos, Gabriel Alves, Lucas Alves</dc:creator>
  <cp:lastModifiedBy>Lucas Alves Santos</cp:lastModifiedBy>
  <cp:revision>1</cp:revision>
  <dcterms:created xsi:type="dcterms:W3CDTF">2026-10-02T19:05:26Z</dcterms:created>
  <dcterms:modified xsi:type="dcterms:W3CDTF">2026-10-02T19:22:55Z</dcterms:modified>
</cp:coreProperties>
</file>